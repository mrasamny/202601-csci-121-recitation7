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82" r:id="rId3"/>
    <p:sldId id="284" r:id="rId4"/>
    <p:sldId id="287" r:id="rId5"/>
    <p:sldId id="286" r:id="rId6"/>
    <p:sldId id="289" r:id="rId7"/>
    <p:sldId id="259" r:id="rId8"/>
    <p:sldId id="260" r:id="rId9"/>
    <p:sldId id="261" r:id="rId10"/>
    <p:sldId id="262" r:id="rId11"/>
    <p:sldId id="264" r:id="rId12"/>
    <p:sldId id="263" r:id="rId13"/>
    <p:sldId id="265" r:id="rId14"/>
    <p:sldId id="266" r:id="rId15"/>
    <p:sldId id="281" r:id="rId16"/>
    <p:sldId id="268" r:id="rId17"/>
    <p:sldId id="269" r:id="rId18"/>
    <p:sldId id="288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3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3300"/>
    <a:srgbClr val="FF0000"/>
    <a:srgbClr val="333399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217F84-66CB-5C47-A83A-1EC32638A328}" v="1" dt="2025-11-12T12:36:59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5" autoAdjust="0"/>
    <p:restoredTop sz="94726"/>
  </p:normalViewPr>
  <p:slideViewPr>
    <p:cSldViewPr>
      <p:cViewPr varScale="1">
        <p:scale>
          <a:sx n="120" d="100"/>
          <a:sy n="120" d="100"/>
        </p:scale>
        <p:origin x="7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wan Rasamny" userId="ab1fe431-15c1-45b9-a358-e7dc16a25c24" providerId="ADAL" clId="{21E3B787-D6B2-5E96-A39F-C9807359C941}"/>
    <pc:docChg chg="addSld modSld">
      <pc:chgData name="Marwan Rasamny" userId="ab1fe431-15c1-45b9-a358-e7dc16a25c24" providerId="ADAL" clId="{21E3B787-D6B2-5E96-A39F-C9807359C941}" dt="2025-11-12T12:36:59.013" v="0"/>
      <pc:docMkLst>
        <pc:docMk/>
      </pc:docMkLst>
      <pc:sldChg chg="add">
        <pc:chgData name="Marwan Rasamny" userId="ab1fe431-15c1-45b9-a358-e7dc16a25c24" providerId="ADAL" clId="{21E3B787-D6B2-5E96-A39F-C9807359C941}" dt="2025-11-12T12:36:59.013" v="0"/>
        <pc:sldMkLst>
          <pc:docMk/>
          <pc:sldMk cId="2531715366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i="0"/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i="0"/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i="0"/>
            </a:lvl1pPr>
          </a:lstStyle>
          <a:p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i="0"/>
            </a:lvl1pPr>
          </a:lstStyle>
          <a:p>
            <a:fld id="{332ABB05-153D-48A4-A18B-CB45B4B418B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935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25193F-0B65-4DAF-BDBB-B56468890F28}" type="slidenum">
              <a:rPr lang="en-US"/>
              <a:pPr/>
              <a:t>1</a:t>
            </a:fld>
            <a:endParaRPr lang="en-US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DCBB32-25B6-4ADD-B811-1CC8F1CA2477}" type="slidenum">
              <a:rPr lang="en-US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56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DCBB32-25B6-4ADD-B811-1CC8F1CA2477}" type="slidenum">
              <a:rPr lang="en-US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56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7FA66A-4529-47D8-9621-BDFF3DC8D902}" type="slidenum">
              <a:rPr lang="en-US"/>
              <a:pPr/>
              <a:t>5</a:t>
            </a:fld>
            <a:endParaRPr lang="en-US"/>
          </a:p>
        </p:txBody>
      </p:sp>
      <p:sp>
        <p:nvSpPr>
          <p:cNvPr id="258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9DB90-B669-05D6-ECC7-1C7AA0735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85E4F5B-8001-3684-FFA8-83FCCBFE7E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7FA66A-4529-47D8-9621-BDFF3DC8D902}" type="slidenum">
              <a:rPr lang="en-US"/>
              <a:pPr/>
              <a:t>6</a:t>
            </a:fld>
            <a:endParaRPr lang="en-US"/>
          </a:p>
        </p:txBody>
      </p:sp>
      <p:sp>
        <p:nvSpPr>
          <p:cNvPr id="258050" name="Rectangle 2">
            <a:extLst>
              <a:ext uri="{FF2B5EF4-FFF2-40B4-BE49-F238E27FC236}">
                <a16:creationId xmlns:a16="http://schemas.microsoft.com/office/drawing/2014/main" id="{33D11997-38BE-7529-5D4E-234F70BEE1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1" name="Rectangle 3">
            <a:extLst>
              <a:ext uri="{FF2B5EF4-FFF2-40B4-BE49-F238E27FC236}">
                <a16:creationId xmlns:a16="http://schemas.microsoft.com/office/drawing/2014/main" id="{4EF6206A-CEAB-1A8B-3482-E048117379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89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BBFC96-1239-4C4E-85C9-3F1D4D8A29D9}" type="slidenum">
              <a:rPr lang="en-US"/>
              <a:pPr/>
              <a:t>7</a:t>
            </a:fld>
            <a:endParaRPr lang="en-US"/>
          </a:p>
        </p:txBody>
      </p:sp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CD34B7-6765-41E5-B74F-8A133382A437}" type="slidenum">
              <a:rPr lang="en-US"/>
              <a:pPr/>
              <a:t>8</a:t>
            </a:fld>
            <a:endParaRPr lang="en-US"/>
          </a:p>
        </p:txBody>
      </p:sp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3955EB-DAD4-428A-91DC-AC9A311BB2BF}" type="slidenum">
              <a:rPr lang="en-US"/>
              <a:pPr/>
              <a:t>9</a:t>
            </a:fld>
            <a:endParaRPr lang="en-US"/>
          </a:p>
        </p:txBody>
      </p:sp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26265A-511B-4301-A5A6-C7A352D48EAE}" type="slidenum">
              <a:rPr lang="en-US"/>
              <a:pPr/>
              <a:t>10</a:t>
            </a:fld>
            <a:endParaRPr lang="en-US"/>
          </a:p>
        </p:txBody>
      </p:sp>
      <p:sp>
        <p:nvSpPr>
          <p:cNvPr id="237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DEA244-EB26-4A84-9B5E-3EA10DCDAA46}" type="slidenum">
              <a:rPr lang="en-US"/>
              <a:pPr/>
              <a:t>11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766720-5E3D-42C9-A3E6-54E5A6D3AA3F}" type="slidenum">
              <a:rPr lang="en-US"/>
              <a:pPr/>
              <a:t>12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129B1D-81E7-4D35-9C40-57EEEBAB8734}" type="slidenum">
              <a:rPr lang="en-US"/>
              <a:pPr/>
              <a:t>13</a:t>
            </a:fld>
            <a:endParaRPr lang="en-US"/>
          </a:p>
        </p:txBody>
      </p:sp>
      <p:sp>
        <p:nvSpPr>
          <p:cNvPr id="24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45684F-8CE3-46BB-A416-34BEA8629C8B}" type="slidenum">
              <a:rPr lang="en-US"/>
              <a:pPr/>
              <a:t>14</a:t>
            </a:fld>
            <a:endParaRPr lang="en-US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F71F73-03C0-418A-83F1-6772C9240C67}" type="slidenum">
              <a:rPr lang="en-US"/>
              <a:pPr/>
              <a:t>15</a:t>
            </a:fld>
            <a:endParaRPr lang="en-US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E3EEA3-3C3D-4EFD-9725-838C6C7DA6A5}" type="slidenum">
              <a:rPr lang="en-US"/>
              <a:pPr/>
              <a:t>16</a:t>
            </a:fld>
            <a:endParaRPr lang="en-US"/>
          </a:p>
        </p:txBody>
      </p:sp>
      <p:sp>
        <p:nvSpPr>
          <p:cNvPr id="251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C922E3-632D-4682-8DF0-A88F6B70E0D7}" type="slidenum">
              <a:rPr lang="en-US"/>
              <a:pPr/>
              <a:t>17</a:t>
            </a:fld>
            <a:endParaRPr lang="en-US"/>
          </a:p>
        </p:txBody>
      </p:sp>
      <p:sp>
        <p:nvSpPr>
          <p:cNvPr id="253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7FA66A-4529-47D8-9621-BDFF3DC8D902}" type="slidenum">
              <a:rPr lang="en-US"/>
              <a:pPr/>
              <a:t>18</a:t>
            </a:fld>
            <a:endParaRPr lang="en-US"/>
          </a:p>
        </p:txBody>
      </p:sp>
      <p:sp>
        <p:nvSpPr>
          <p:cNvPr id="258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301D0F-2A1E-461A-B8C4-9C434F1DB51F}" type="slidenum">
              <a:rPr lang="en-US"/>
              <a:pPr/>
              <a:t>19</a:t>
            </a:fld>
            <a:endParaRPr lang="en-US"/>
          </a:p>
        </p:txBody>
      </p:sp>
      <p:sp>
        <p:nvSpPr>
          <p:cNvPr id="260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DBAD8E-8AF3-4638-90E3-B7821E8DA7BE}" type="slidenum">
              <a:rPr lang="en-US"/>
              <a:pPr/>
              <a:t>20</a:t>
            </a:fld>
            <a:endParaRPr lang="en-US"/>
          </a:p>
        </p:txBody>
      </p:sp>
      <p:sp>
        <p:nvSpPr>
          <p:cNvPr id="26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F23595-9261-4801-B532-6FADF91CF1D1}" type="slidenum">
              <a:rPr lang="en-US"/>
              <a:pPr/>
              <a:t>21</a:t>
            </a:fld>
            <a:endParaRPr lang="en-US"/>
          </a:p>
        </p:txBody>
      </p:sp>
      <p:sp>
        <p:nvSpPr>
          <p:cNvPr id="264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873053-4E69-4954-B184-156BBC353BBB}" type="slidenum">
              <a:rPr lang="en-US"/>
              <a:pPr/>
              <a:t>22</a:t>
            </a:fld>
            <a:endParaRPr lang="en-US"/>
          </a:p>
        </p:txBody>
      </p:sp>
      <p:sp>
        <p:nvSpPr>
          <p:cNvPr id="266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418738-61AB-4DE0-BB68-CD597F5EFB73}" type="slidenum">
              <a:rPr lang="en-US"/>
              <a:pPr/>
              <a:t>23</a:t>
            </a:fld>
            <a:endParaRPr lang="en-US"/>
          </a:p>
        </p:txBody>
      </p:sp>
      <p:sp>
        <p:nvSpPr>
          <p:cNvPr id="26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B001CC-77F0-40AF-A789-45B3CECF7D84}" type="slidenum">
              <a:rPr lang="en-US"/>
              <a:pPr/>
              <a:t>24</a:t>
            </a:fld>
            <a:endParaRPr lang="en-US"/>
          </a:p>
        </p:txBody>
      </p:sp>
      <p:sp>
        <p:nvSpPr>
          <p:cNvPr id="27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9184AE-456B-4B63-9DFC-590CE7A7710D}" type="slidenum">
              <a:rPr lang="en-US"/>
              <a:pPr/>
              <a:t>25</a:t>
            </a:fld>
            <a:endParaRPr lang="en-US"/>
          </a:p>
        </p:txBody>
      </p:sp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88F1FA-668E-4A88-926F-258F7395E4B7}" type="slidenum">
              <a:rPr lang="en-US"/>
              <a:pPr/>
              <a:t>26</a:t>
            </a:fld>
            <a:endParaRPr lang="en-US"/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048000"/>
            <a:ext cx="7772400" cy="1524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9220" name="Picture 4" descr="DSU_horiz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775" y="533400"/>
            <a:ext cx="7696200" cy="1184275"/>
          </a:xfrm>
          <a:prstGeom prst="rect">
            <a:avLst/>
          </a:prstGeom>
          <a:noFill/>
        </p:spPr>
      </p:pic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1752600" y="2438400"/>
            <a:ext cx="6096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800" b="1" u="sng" dirty="0">
                <a:latin typeface="Times New Roman" pitchFamily="18" charset="0"/>
              </a:rPr>
              <a:t>Elements of Computer Programming II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447800" y="1927225"/>
            <a:ext cx="66595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0066CC"/>
                </a:solidFill>
                <a:latin typeface="Times New Roman" pitchFamily="18" charset="0"/>
              </a:rPr>
              <a:t>Department</a:t>
            </a:r>
            <a:r>
              <a:rPr lang="en-US" sz="2400" b="1">
                <a:latin typeface="Times New Roman" pitchFamily="18" charset="0"/>
              </a:rPr>
              <a:t> </a:t>
            </a:r>
            <a:r>
              <a:rPr lang="en-US" sz="2400" b="1">
                <a:solidFill>
                  <a:srgbClr val="0066CC"/>
                </a:solidFill>
                <a:latin typeface="Times New Roman" pitchFamily="18" charset="0"/>
              </a:rPr>
              <a:t>of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sz="2400" b="1">
                <a:solidFill>
                  <a:srgbClr val="0066CC"/>
                </a:solidFill>
                <a:latin typeface="Times New Roman" pitchFamily="18" charset="0"/>
              </a:rPr>
              <a:t>Computer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</a:rPr>
              <a:t> and Information Sciences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685800" y="4913313"/>
            <a:ext cx="7772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800" i="0">
                <a:latin typeface="Times New Roman" pitchFamily="18" charset="0"/>
              </a:rPr>
              <a:t>Marwan Rasamny, PhD</a:t>
            </a:r>
          </a:p>
          <a:p>
            <a:pPr algn="ctr"/>
            <a:r>
              <a:rPr lang="en-US" sz="2800" i="0">
                <a:latin typeface="Times New Roman" pitchFamily="18" charset="0"/>
              </a:rPr>
              <a:t>Department of Computer &amp; Information Sciences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745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745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1" name="Picture 7" descr="DSU_horiz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57200" y="6026150"/>
            <a:ext cx="4495800" cy="692150"/>
          </a:xfrm>
          <a:prstGeom prst="rect">
            <a:avLst/>
          </a:prstGeom>
          <a:noFill/>
        </p:spPr>
      </p:pic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5181600" y="6135469"/>
            <a:ext cx="2971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91440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</a:rPr>
              <a:t>Elements of Computer Programming II</a:t>
            </a: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7924800" y="61722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fld id="{3701A2C5-F3A9-4915-92D8-2783D935923F}" type="slidenum">
              <a:rPr lang="en-US" sz="2000" i="0">
                <a:latin typeface="Times New Roman" pitchFamily="18" charset="0"/>
              </a:rPr>
              <a:pPr algn="r"/>
              <a:t>‹#›</a:t>
            </a:fld>
            <a:endParaRPr lang="en-US" sz="2000" i="0" dirty="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SzPct val="70000"/>
        <a:buBlip>
          <a:blip r:embed="rId14"/>
        </a:buBlip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SzPct val="75000"/>
        <a:buBlip>
          <a:blip r:embed="rId15"/>
        </a:buBlip>
        <a:defRPr sz="26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/>
              <a:t>Putting It All Together</a:t>
            </a:r>
            <a:br>
              <a:rPr lang="en-US" sz="4000" b="1" dirty="0"/>
            </a:br>
            <a:r>
              <a:rPr lang="en-US" sz="4000" b="1" dirty="0"/>
              <a:t>FSMs and Classes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end of this lecture, a student will be able to:</a:t>
            </a:r>
          </a:p>
          <a:p>
            <a:pPr lvl="1"/>
            <a:r>
              <a:rPr lang="en-US" dirty="0"/>
              <a:t>Define a java class</a:t>
            </a:r>
          </a:p>
          <a:p>
            <a:pPr lvl="1"/>
            <a:r>
              <a:rPr lang="en-US" dirty="0"/>
              <a:t>Create an instance of a class with a predetermined initial state.</a:t>
            </a:r>
          </a:p>
          <a:p>
            <a:pPr lvl="1"/>
            <a:r>
              <a:rPr lang="en-US" dirty="0"/>
              <a:t>Implement </a:t>
            </a:r>
            <a:r>
              <a:rPr lang="en-US" dirty="0" err="1"/>
              <a:t>accessor</a:t>
            </a:r>
            <a:r>
              <a:rPr lang="en-US" dirty="0"/>
              <a:t> and </a:t>
            </a:r>
            <a:r>
              <a:rPr lang="en-US" dirty="0" err="1"/>
              <a:t>mutator</a:t>
            </a:r>
            <a:r>
              <a:rPr lang="en-US" dirty="0"/>
              <a:t> methods</a:t>
            </a:r>
          </a:p>
          <a:p>
            <a:pPr lvl="1"/>
            <a:r>
              <a:rPr lang="en-US" dirty="0"/>
              <a:t>Implement a constructor</a:t>
            </a:r>
          </a:p>
          <a:p>
            <a:pPr lvl="1"/>
            <a:r>
              <a:rPr lang="en-US" dirty="0"/>
              <a:t>Design an FSM and properly implement it using a class.</a:t>
            </a:r>
          </a:p>
        </p:txBody>
      </p:sp>
    </p:spTree>
    <p:extLst>
      <p:ext uri="{BB962C8B-B14F-4D97-AF65-F5344CB8AC3E}">
        <p14:creationId xmlns:p14="http://schemas.microsoft.com/office/powerpoint/2010/main" val="613217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</a:t>
            </a:r>
            <a:r>
              <a:rPr lang="en-US" dirty="0" err="1">
                <a:latin typeface="Courier New" pitchFamily="49" charset="0"/>
              </a:rPr>
              <a:t>StopWatch</a:t>
            </a:r>
            <a:endParaRPr lang="en-US" dirty="0">
              <a:latin typeface="Courier New" pitchFamily="49" charset="0"/>
            </a:endParaRPr>
          </a:p>
        </p:txBody>
      </p:sp>
      <p:sp>
        <p:nvSpPr>
          <p:cNvPr id="254981" name="Oval 5"/>
          <p:cNvSpPr>
            <a:spLocks noChangeArrowheads="1"/>
          </p:cNvSpPr>
          <p:nvPr/>
        </p:nvSpPr>
        <p:spPr bwMode="auto">
          <a:xfrm>
            <a:off x="1600200" y="2971800"/>
            <a:ext cx="1295400" cy="1295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i="0">
                <a:solidFill>
                  <a:srgbClr val="000000"/>
                </a:solidFill>
                <a:latin typeface="Times New Roman" pitchFamily="18" charset="0"/>
              </a:rPr>
              <a:t>reset</a:t>
            </a:r>
          </a:p>
        </p:txBody>
      </p:sp>
      <p:sp>
        <p:nvSpPr>
          <p:cNvPr id="254982" name="Oval 6"/>
          <p:cNvSpPr>
            <a:spLocks noChangeArrowheads="1"/>
          </p:cNvSpPr>
          <p:nvPr/>
        </p:nvSpPr>
        <p:spPr bwMode="auto">
          <a:xfrm>
            <a:off x="5029200" y="4648200"/>
            <a:ext cx="1295400" cy="1295400"/>
          </a:xfrm>
          <a:prstGeom prst="ellipse">
            <a:avLst/>
          </a:prstGeom>
          <a:solidFill>
            <a:srgbClr val="006600">
              <a:alpha val="31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i="0">
                <a:solidFill>
                  <a:srgbClr val="000000"/>
                </a:solidFill>
                <a:latin typeface="Times New Roman" pitchFamily="18" charset="0"/>
              </a:rPr>
              <a:t>stopped</a:t>
            </a:r>
          </a:p>
        </p:txBody>
      </p:sp>
      <p:sp>
        <p:nvSpPr>
          <p:cNvPr id="254983" name="Oval 7"/>
          <p:cNvSpPr>
            <a:spLocks noChangeArrowheads="1"/>
          </p:cNvSpPr>
          <p:nvPr/>
        </p:nvSpPr>
        <p:spPr bwMode="auto">
          <a:xfrm>
            <a:off x="5029200" y="1066800"/>
            <a:ext cx="1295400" cy="1295400"/>
          </a:xfrm>
          <a:prstGeom prst="ellipse">
            <a:avLst/>
          </a:prstGeom>
          <a:solidFill>
            <a:srgbClr val="C0C0C0">
              <a:alpha val="39999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i="0">
                <a:solidFill>
                  <a:srgbClr val="000000"/>
                </a:solidFill>
                <a:latin typeface="Times New Roman" pitchFamily="18" charset="0"/>
              </a:rPr>
              <a:t>started</a:t>
            </a:r>
          </a:p>
        </p:txBody>
      </p:sp>
      <p:sp>
        <p:nvSpPr>
          <p:cNvPr id="254984" name="Line 8"/>
          <p:cNvSpPr>
            <a:spLocks noChangeShapeType="1"/>
          </p:cNvSpPr>
          <p:nvPr/>
        </p:nvSpPr>
        <p:spPr bwMode="auto">
          <a:xfrm>
            <a:off x="914400" y="3581400"/>
            <a:ext cx="609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54985" name="AutoShape 9"/>
          <p:cNvCxnSpPr>
            <a:cxnSpLocks noChangeShapeType="1"/>
            <a:stCxn id="254981" idx="7"/>
            <a:endCxn id="254983" idx="2"/>
          </p:cNvCxnSpPr>
          <p:nvPr/>
        </p:nvCxnSpPr>
        <p:spPr bwMode="auto">
          <a:xfrm rot="16200000">
            <a:off x="3144837" y="1276351"/>
            <a:ext cx="1427163" cy="2303462"/>
          </a:xfrm>
          <a:prstGeom prst="curvedConnector2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cxnSp>
        <p:nvCxnSpPr>
          <p:cNvPr id="254987" name="AutoShape 11"/>
          <p:cNvCxnSpPr>
            <a:cxnSpLocks noChangeShapeType="1"/>
            <a:stCxn id="254983" idx="6"/>
            <a:endCxn id="254982" idx="6"/>
          </p:cNvCxnSpPr>
          <p:nvPr/>
        </p:nvCxnSpPr>
        <p:spPr bwMode="auto">
          <a:xfrm>
            <a:off x="6343650" y="1714500"/>
            <a:ext cx="1588" cy="3581400"/>
          </a:xfrm>
          <a:prstGeom prst="curvedConnector3">
            <a:avLst>
              <a:gd name="adj1" fmla="val 13200000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cxnSp>
        <p:nvCxnSpPr>
          <p:cNvPr id="254988" name="AutoShape 12"/>
          <p:cNvCxnSpPr>
            <a:cxnSpLocks noChangeShapeType="1"/>
            <a:stCxn id="254982" idx="2"/>
            <a:endCxn id="254981" idx="4"/>
          </p:cNvCxnSpPr>
          <p:nvPr/>
        </p:nvCxnSpPr>
        <p:spPr bwMode="auto">
          <a:xfrm rot="10800000">
            <a:off x="2247900" y="4286250"/>
            <a:ext cx="2762250" cy="1009650"/>
          </a:xfrm>
          <a:prstGeom prst="curvedConnector2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cxnSp>
        <p:nvCxnSpPr>
          <p:cNvPr id="254989" name="AutoShape 13"/>
          <p:cNvCxnSpPr>
            <a:cxnSpLocks noChangeShapeType="1"/>
            <a:stCxn id="254983" idx="3"/>
            <a:endCxn id="254981" idx="6"/>
          </p:cNvCxnSpPr>
          <p:nvPr/>
        </p:nvCxnSpPr>
        <p:spPr bwMode="auto">
          <a:xfrm rot="5400000">
            <a:off x="3352801" y="1754187"/>
            <a:ext cx="1427162" cy="2303463"/>
          </a:xfrm>
          <a:prstGeom prst="curvedConnector2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cxnSp>
        <p:nvCxnSpPr>
          <p:cNvPr id="254990" name="AutoShape 14"/>
          <p:cNvCxnSpPr>
            <a:cxnSpLocks noChangeShapeType="1"/>
            <a:stCxn id="254982" idx="0"/>
            <a:endCxn id="254983" idx="4"/>
          </p:cNvCxnSpPr>
          <p:nvPr/>
        </p:nvCxnSpPr>
        <p:spPr bwMode="auto">
          <a:xfrm rot="16200000">
            <a:off x="4552950" y="3505200"/>
            <a:ext cx="2247900" cy="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sp>
        <p:nvSpPr>
          <p:cNvPr id="254991" name="Text Box 15"/>
          <p:cNvSpPr txBox="1">
            <a:spLocks noChangeArrowheads="1"/>
          </p:cNvSpPr>
          <p:nvPr/>
        </p:nvSpPr>
        <p:spPr bwMode="auto">
          <a:xfrm rot="19500000">
            <a:off x="2567852" y="1903512"/>
            <a:ext cx="159370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>
                <a:solidFill>
                  <a:srgbClr val="000000"/>
                </a:solidFill>
                <a:latin typeface="Courier New" pitchFamily="49" charset="0"/>
              </a:rPr>
              <a:t>start()</a:t>
            </a:r>
            <a:r>
              <a:rPr lang="en-US" sz="1400" b="1" i="0" dirty="0">
                <a:solidFill>
                  <a:srgbClr val="000000"/>
                </a:solidFill>
              </a:rPr>
              <a:t> </a:t>
            </a:r>
            <a:r>
              <a:rPr lang="en-US" sz="1400" b="1" i="0" dirty="0">
                <a:solidFill>
                  <a:srgbClr val="000000"/>
                </a:solidFill>
                <a:latin typeface="Times New Roman" pitchFamily="18" charset="0"/>
              </a:rPr>
              <a:t>invoked</a:t>
            </a:r>
          </a:p>
        </p:txBody>
      </p:sp>
      <p:sp>
        <p:nvSpPr>
          <p:cNvPr id="254992" name="Text Box 16"/>
          <p:cNvSpPr txBox="1">
            <a:spLocks noChangeArrowheads="1"/>
          </p:cNvSpPr>
          <p:nvPr/>
        </p:nvSpPr>
        <p:spPr bwMode="auto">
          <a:xfrm rot="5400000">
            <a:off x="5962446" y="3363219"/>
            <a:ext cx="148630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>
                <a:solidFill>
                  <a:srgbClr val="000000"/>
                </a:solidFill>
                <a:latin typeface="Courier New" pitchFamily="49" charset="0"/>
              </a:rPr>
              <a:t>stop()</a:t>
            </a:r>
            <a:r>
              <a:rPr lang="en-US" sz="1400" b="1" i="0" dirty="0">
                <a:solidFill>
                  <a:srgbClr val="000000"/>
                </a:solidFill>
              </a:rPr>
              <a:t> </a:t>
            </a:r>
            <a:r>
              <a:rPr lang="en-US" sz="1400" b="1" i="0" dirty="0">
                <a:solidFill>
                  <a:srgbClr val="000000"/>
                </a:solidFill>
                <a:latin typeface="Times New Roman" pitchFamily="18" charset="0"/>
              </a:rPr>
              <a:t>invoked</a:t>
            </a:r>
          </a:p>
        </p:txBody>
      </p:sp>
      <p:sp>
        <p:nvSpPr>
          <p:cNvPr id="254993" name="Text Box 17"/>
          <p:cNvSpPr txBox="1">
            <a:spLocks noChangeArrowheads="1"/>
          </p:cNvSpPr>
          <p:nvPr/>
        </p:nvSpPr>
        <p:spPr bwMode="auto">
          <a:xfrm rot="16200000">
            <a:off x="4765745" y="3439419"/>
            <a:ext cx="159370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>
                <a:solidFill>
                  <a:srgbClr val="000000"/>
                </a:solidFill>
                <a:latin typeface="Courier New" pitchFamily="49" charset="0"/>
              </a:rPr>
              <a:t>start()</a:t>
            </a:r>
            <a:r>
              <a:rPr lang="en-US" sz="1400" b="1" i="0" dirty="0">
                <a:solidFill>
                  <a:srgbClr val="000000"/>
                </a:solidFill>
              </a:rPr>
              <a:t> </a:t>
            </a:r>
            <a:r>
              <a:rPr lang="en-US" sz="1400" b="1" i="0" dirty="0">
                <a:solidFill>
                  <a:srgbClr val="000000"/>
                </a:solidFill>
                <a:latin typeface="Times New Roman" pitchFamily="18" charset="0"/>
              </a:rPr>
              <a:t>invoked</a:t>
            </a:r>
          </a:p>
        </p:txBody>
      </p:sp>
      <p:sp>
        <p:nvSpPr>
          <p:cNvPr id="254994" name="Text Box 18"/>
          <p:cNvSpPr txBox="1">
            <a:spLocks noChangeArrowheads="1"/>
          </p:cNvSpPr>
          <p:nvPr/>
        </p:nvSpPr>
        <p:spPr bwMode="auto">
          <a:xfrm rot="20040000">
            <a:off x="3276600" y="3048000"/>
            <a:ext cx="1579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>
                <a:solidFill>
                  <a:srgbClr val="000000"/>
                </a:solidFill>
                <a:latin typeface="Courier New" pitchFamily="49" charset="0"/>
              </a:rPr>
              <a:t>reset()</a:t>
            </a:r>
            <a:r>
              <a:rPr lang="en-US" sz="1400" b="1" i="0" dirty="0">
                <a:solidFill>
                  <a:srgbClr val="000000"/>
                </a:solidFill>
              </a:rPr>
              <a:t> </a:t>
            </a:r>
            <a:r>
              <a:rPr lang="en-US" sz="1400" b="1" i="0" dirty="0">
                <a:solidFill>
                  <a:srgbClr val="000000"/>
                </a:solidFill>
                <a:latin typeface="Times New Roman" pitchFamily="18" charset="0"/>
              </a:rPr>
              <a:t>invoked</a:t>
            </a:r>
          </a:p>
        </p:txBody>
      </p:sp>
      <p:sp>
        <p:nvSpPr>
          <p:cNvPr id="254995" name="Text Box 19"/>
          <p:cNvSpPr txBox="1">
            <a:spLocks noChangeArrowheads="1"/>
          </p:cNvSpPr>
          <p:nvPr/>
        </p:nvSpPr>
        <p:spPr bwMode="auto">
          <a:xfrm rot="840000">
            <a:off x="3048000" y="4876800"/>
            <a:ext cx="1579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>
                <a:solidFill>
                  <a:srgbClr val="000000"/>
                </a:solidFill>
                <a:latin typeface="Courier New" pitchFamily="49" charset="0"/>
              </a:rPr>
              <a:t>reset()</a:t>
            </a:r>
            <a:r>
              <a:rPr lang="en-US" sz="1400" b="1" i="0" dirty="0">
                <a:solidFill>
                  <a:srgbClr val="000000"/>
                </a:solidFill>
              </a:rPr>
              <a:t> </a:t>
            </a:r>
            <a:r>
              <a:rPr lang="en-US" sz="1400" b="1" i="0" dirty="0">
                <a:solidFill>
                  <a:srgbClr val="000000"/>
                </a:solidFill>
                <a:latin typeface="Times New Roman" pitchFamily="18" charset="0"/>
              </a:rPr>
              <a:t>invoked</a:t>
            </a:r>
          </a:p>
        </p:txBody>
      </p:sp>
      <p:sp>
        <p:nvSpPr>
          <p:cNvPr id="3" name="TextBox 2"/>
          <p:cNvSpPr txBox="1"/>
          <p:nvPr/>
        </p:nvSpPr>
        <p:spPr>
          <a:xfrm rot="19608234">
            <a:off x="2739020" y="2127038"/>
            <a:ext cx="2010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</a:p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 rot="20024854">
            <a:off x="3301753" y="3389462"/>
            <a:ext cx="2010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0}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5592955" y="3427510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</a:p>
        </p:txBody>
      </p:sp>
      <p:sp>
        <p:nvSpPr>
          <p:cNvPr id="21" name="TextBox 20"/>
          <p:cNvSpPr txBox="1"/>
          <p:nvPr/>
        </p:nvSpPr>
        <p:spPr>
          <a:xfrm rot="5400000">
            <a:off x="5394072" y="3431304"/>
            <a:ext cx="2010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{get 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2" name="TextBox 21"/>
          <p:cNvSpPr txBox="1"/>
          <p:nvPr/>
        </p:nvSpPr>
        <p:spPr>
          <a:xfrm rot="1122785">
            <a:off x="2359461" y="5149798"/>
            <a:ext cx="2010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0}</a:t>
            </a:r>
          </a:p>
        </p:txBody>
      </p:sp>
      <p:cxnSp>
        <p:nvCxnSpPr>
          <p:cNvPr id="23" name="AutoShape 13"/>
          <p:cNvCxnSpPr>
            <a:cxnSpLocks noChangeShapeType="1"/>
            <a:stCxn id="254981" idx="0"/>
            <a:endCxn id="254981" idx="1"/>
          </p:cNvCxnSpPr>
          <p:nvPr/>
        </p:nvCxnSpPr>
        <p:spPr bwMode="auto">
          <a:xfrm rot="16200000" flipH="1" flipV="1">
            <a:off x="1924050" y="2837656"/>
            <a:ext cx="189707" cy="457993"/>
          </a:xfrm>
          <a:prstGeom prst="curvedConnector3">
            <a:avLst>
              <a:gd name="adj1" fmla="val -315600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sp>
        <p:nvSpPr>
          <p:cNvPr id="27" name="Text Box 19"/>
          <p:cNvSpPr txBox="1">
            <a:spLocks noChangeArrowheads="1"/>
          </p:cNvSpPr>
          <p:nvPr/>
        </p:nvSpPr>
        <p:spPr bwMode="auto">
          <a:xfrm rot="20450223">
            <a:off x="1222051" y="1930727"/>
            <a:ext cx="15937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>
                <a:solidFill>
                  <a:srgbClr val="000000"/>
                </a:solidFill>
                <a:latin typeface="Courier New" pitchFamily="49" charset="0"/>
              </a:rPr>
              <a:t>reset()</a:t>
            </a:r>
            <a:r>
              <a:rPr lang="en-US" sz="1400" b="1" i="0" dirty="0">
                <a:solidFill>
                  <a:srgbClr val="000000"/>
                </a:solidFill>
              </a:rPr>
              <a:t> </a:t>
            </a:r>
            <a:r>
              <a:rPr lang="en-US" sz="1400" b="1" i="0" dirty="0">
                <a:solidFill>
                  <a:srgbClr val="000000"/>
                </a:solidFill>
                <a:latin typeface="Times New Roman" pitchFamily="18" charset="0"/>
              </a:rPr>
              <a:t>invoked</a:t>
            </a:r>
          </a:p>
          <a:p>
            <a:r>
              <a:rPr lang="en-US" sz="1400" b="1" i="0" dirty="0">
                <a:solidFill>
                  <a:srgbClr val="000000"/>
                </a:solidFill>
                <a:latin typeface="Courier New" pitchFamily="49" charset="0"/>
              </a:rPr>
              <a:t>stop()</a:t>
            </a:r>
            <a:r>
              <a:rPr lang="en-US" sz="1400" b="1" i="0" dirty="0">
                <a:solidFill>
                  <a:srgbClr val="000000"/>
                </a:solidFill>
              </a:rPr>
              <a:t> </a:t>
            </a:r>
            <a:r>
              <a:rPr lang="en-US" sz="1400" b="1" i="0" dirty="0">
                <a:solidFill>
                  <a:srgbClr val="000000"/>
                </a:solidFill>
                <a:latin typeface="Times New Roman" pitchFamily="18" charset="0"/>
              </a:rPr>
              <a:t>invoked</a:t>
            </a:r>
          </a:p>
        </p:txBody>
      </p:sp>
      <p:cxnSp>
        <p:nvCxnSpPr>
          <p:cNvPr id="28" name="AutoShape 13"/>
          <p:cNvCxnSpPr>
            <a:cxnSpLocks noChangeShapeType="1"/>
            <a:stCxn id="254983" idx="6"/>
            <a:endCxn id="254983" idx="7"/>
          </p:cNvCxnSpPr>
          <p:nvPr/>
        </p:nvCxnSpPr>
        <p:spPr bwMode="auto">
          <a:xfrm flipH="1" flipV="1">
            <a:off x="6134893" y="1256507"/>
            <a:ext cx="189707" cy="457993"/>
          </a:xfrm>
          <a:prstGeom prst="curvedConnector4">
            <a:avLst>
              <a:gd name="adj1" fmla="val -189360"/>
              <a:gd name="adj2" fmla="val 155683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sp>
        <p:nvSpPr>
          <p:cNvPr id="33" name="Text Box 15"/>
          <p:cNvSpPr txBox="1">
            <a:spLocks noChangeArrowheads="1"/>
          </p:cNvSpPr>
          <p:nvPr/>
        </p:nvSpPr>
        <p:spPr bwMode="auto">
          <a:xfrm>
            <a:off x="6859487" y="1143741"/>
            <a:ext cx="159370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>
                <a:solidFill>
                  <a:srgbClr val="000000"/>
                </a:solidFill>
                <a:latin typeface="Courier New" pitchFamily="49" charset="0"/>
              </a:rPr>
              <a:t>start()</a:t>
            </a:r>
            <a:r>
              <a:rPr lang="en-US" sz="1400" b="1" i="0" dirty="0">
                <a:solidFill>
                  <a:srgbClr val="000000"/>
                </a:solidFill>
              </a:rPr>
              <a:t> </a:t>
            </a:r>
            <a:r>
              <a:rPr lang="en-US" sz="1400" b="1" i="0" dirty="0">
                <a:solidFill>
                  <a:srgbClr val="000000"/>
                </a:solidFill>
                <a:latin typeface="Times New Roman" pitchFamily="18" charset="0"/>
              </a:rPr>
              <a:t>invoked</a:t>
            </a:r>
          </a:p>
        </p:txBody>
      </p:sp>
      <p:cxnSp>
        <p:nvCxnSpPr>
          <p:cNvPr id="34" name="AutoShape 13"/>
          <p:cNvCxnSpPr>
            <a:cxnSpLocks noChangeShapeType="1"/>
            <a:stCxn id="254982" idx="5"/>
            <a:endCxn id="254982" idx="4"/>
          </p:cNvCxnSpPr>
          <p:nvPr/>
        </p:nvCxnSpPr>
        <p:spPr bwMode="auto">
          <a:xfrm rot="5400000">
            <a:off x="5811044" y="5619750"/>
            <a:ext cx="189707" cy="457993"/>
          </a:xfrm>
          <a:prstGeom prst="curvedConnector3">
            <a:avLst>
              <a:gd name="adj1" fmla="val 174597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sp>
        <p:nvSpPr>
          <p:cNvPr id="38" name="Text Box 16"/>
          <p:cNvSpPr txBox="1">
            <a:spLocks noChangeArrowheads="1"/>
          </p:cNvSpPr>
          <p:nvPr/>
        </p:nvSpPr>
        <p:spPr bwMode="auto">
          <a:xfrm>
            <a:off x="6245427" y="5789711"/>
            <a:ext cx="148630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>
                <a:solidFill>
                  <a:srgbClr val="000000"/>
                </a:solidFill>
                <a:latin typeface="Courier New" pitchFamily="49" charset="0"/>
              </a:rPr>
              <a:t>stop()</a:t>
            </a:r>
            <a:r>
              <a:rPr lang="en-US" sz="1400" b="1" i="0" dirty="0">
                <a:solidFill>
                  <a:srgbClr val="000000"/>
                </a:solidFill>
              </a:rPr>
              <a:t> </a:t>
            </a:r>
            <a:r>
              <a:rPr lang="en-US" sz="1400" b="1" i="0" dirty="0">
                <a:solidFill>
                  <a:srgbClr val="000000"/>
                </a:solidFill>
                <a:latin typeface="Times New Roman" pitchFamily="18" charset="0"/>
              </a:rPr>
              <a:t>invoked</a:t>
            </a:r>
          </a:p>
        </p:txBody>
      </p:sp>
    </p:spTree>
    <p:extLst>
      <p:ext uri="{BB962C8B-B14F-4D97-AF65-F5344CB8AC3E}">
        <p14:creationId xmlns:p14="http://schemas.microsoft.com/office/powerpoint/2010/main" val="377891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4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4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54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4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4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5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54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4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4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54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4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25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5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81" grpId="0" animBg="1"/>
      <p:bldP spid="254982" grpId="0" animBg="1"/>
      <p:bldP spid="254983" grpId="0" animBg="1"/>
      <p:bldP spid="254984" grpId="0" animBg="1"/>
      <p:bldP spid="254991" grpId="0"/>
      <p:bldP spid="254992" grpId="0"/>
      <p:bldP spid="254993" grpId="0"/>
      <p:bldP spid="254994" grpId="0"/>
      <p:bldP spid="254995" grpId="0"/>
      <p:bldP spid="3" grpId="0"/>
      <p:bldP spid="19" grpId="0"/>
      <p:bldP spid="20" grpId="0"/>
      <p:bldP spid="21" grpId="0"/>
      <p:bldP spid="22" grpId="0"/>
      <p:bldP spid="27" grpId="0"/>
      <p:bldP spid="33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</a:t>
            </a:r>
            <a:r>
              <a:rPr lang="en-US" dirty="0" err="1">
                <a:latin typeface="Courier New" pitchFamily="49" charset="0"/>
              </a:rPr>
              <a:t>StopWatch</a:t>
            </a:r>
            <a:endParaRPr lang="en-US" dirty="0">
              <a:latin typeface="Courier New" pitchFamily="49" charset="0"/>
            </a:endParaRPr>
          </a:p>
        </p:txBody>
      </p:sp>
      <p:sp>
        <p:nvSpPr>
          <p:cNvPr id="254981" name="Oval 5"/>
          <p:cNvSpPr>
            <a:spLocks noChangeArrowheads="1"/>
          </p:cNvSpPr>
          <p:nvPr/>
        </p:nvSpPr>
        <p:spPr bwMode="auto">
          <a:xfrm>
            <a:off x="1600200" y="2971800"/>
            <a:ext cx="1295400" cy="1295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i="0">
                <a:solidFill>
                  <a:srgbClr val="000000"/>
                </a:solidFill>
                <a:latin typeface="Times New Roman" pitchFamily="18" charset="0"/>
              </a:rPr>
              <a:t>reset</a:t>
            </a:r>
          </a:p>
        </p:txBody>
      </p:sp>
      <p:sp>
        <p:nvSpPr>
          <p:cNvPr id="254982" name="Oval 6"/>
          <p:cNvSpPr>
            <a:spLocks noChangeArrowheads="1"/>
          </p:cNvSpPr>
          <p:nvPr/>
        </p:nvSpPr>
        <p:spPr bwMode="auto">
          <a:xfrm>
            <a:off x="5029200" y="4648200"/>
            <a:ext cx="1295400" cy="1295400"/>
          </a:xfrm>
          <a:prstGeom prst="ellipse">
            <a:avLst/>
          </a:prstGeom>
          <a:solidFill>
            <a:srgbClr val="006600">
              <a:alpha val="31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i="0">
                <a:solidFill>
                  <a:srgbClr val="000000"/>
                </a:solidFill>
                <a:latin typeface="Times New Roman" pitchFamily="18" charset="0"/>
              </a:rPr>
              <a:t>stopped</a:t>
            </a:r>
          </a:p>
        </p:txBody>
      </p:sp>
      <p:sp>
        <p:nvSpPr>
          <p:cNvPr id="254983" name="Oval 7"/>
          <p:cNvSpPr>
            <a:spLocks noChangeArrowheads="1"/>
          </p:cNvSpPr>
          <p:nvPr/>
        </p:nvSpPr>
        <p:spPr bwMode="auto">
          <a:xfrm>
            <a:off x="5029200" y="1066800"/>
            <a:ext cx="1295400" cy="1295400"/>
          </a:xfrm>
          <a:prstGeom prst="ellipse">
            <a:avLst/>
          </a:prstGeom>
          <a:solidFill>
            <a:srgbClr val="C0C0C0">
              <a:alpha val="39999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i="0">
                <a:solidFill>
                  <a:srgbClr val="000000"/>
                </a:solidFill>
                <a:latin typeface="Times New Roman" pitchFamily="18" charset="0"/>
              </a:rPr>
              <a:t>started</a:t>
            </a:r>
          </a:p>
        </p:txBody>
      </p:sp>
      <p:sp>
        <p:nvSpPr>
          <p:cNvPr id="254984" name="Line 8"/>
          <p:cNvSpPr>
            <a:spLocks noChangeShapeType="1"/>
          </p:cNvSpPr>
          <p:nvPr/>
        </p:nvSpPr>
        <p:spPr bwMode="auto">
          <a:xfrm>
            <a:off x="914400" y="3581400"/>
            <a:ext cx="609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54985" name="AutoShape 9"/>
          <p:cNvCxnSpPr>
            <a:cxnSpLocks noChangeShapeType="1"/>
            <a:stCxn id="254981" idx="7"/>
            <a:endCxn id="254983" idx="2"/>
          </p:cNvCxnSpPr>
          <p:nvPr/>
        </p:nvCxnSpPr>
        <p:spPr bwMode="auto">
          <a:xfrm rot="16200000">
            <a:off x="3144837" y="1276351"/>
            <a:ext cx="1427163" cy="2303462"/>
          </a:xfrm>
          <a:prstGeom prst="curvedConnector2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cxnSp>
        <p:nvCxnSpPr>
          <p:cNvPr id="254987" name="AutoShape 11"/>
          <p:cNvCxnSpPr>
            <a:cxnSpLocks noChangeShapeType="1"/>
            <a:stCxn id="254983" idx="6"/>
            <a:endCxn id="254982" idx="6"/>
          </p:cNvCxnSpPr>
          <p:nvPr/>
        </p:nvCxnSpPr>
        <p:spPr bwMode="auto">
          <a:xfrm>
            <a:off x="6343650" y="1714500"/>
            <a:ext cx="1588" cy="3581400"/>
          </a:xfrm>
          <a:prstGeom prst="curvedConnector3">
            <a:avLst>
              <a:gd name="adj1" fmla="val 13200000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cxnSp>
        <p:nvCxnSpPr>
          <p:cNvPr id="254988" name="AutoShape 12"/>
          <p:cNvCxnSpPr>
            <a:cxnSpLocks noChangeShapeType="1"/>
            <a:stCxn id="254982" idx="2"/>
            <a:endCxn id="254981" idx="4"/>
          </p:cNvCxnSpPr>
          <p:nvPr/>
        </p:nvCxnSpPr>
        <p:spPr bwMode="auto">
          <a:xfrm rot="10800000">
            <a:off x="2247900" y="4286250"/>
            <a:ext cx="2762250" cy="1009650"/>
          </a:xfrm>
          <a:prstGeom prst="curvedConnector2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cxnSp>
        <p:nvCxnSpPr>
          <p:cNvPr id="254989" name="AutoShape 13"/>
          <p:cNvCxnSpPr>
            <a:cxnSpLocks noChangeShapeType="1"/>
            <a:stCxn id="254983" idx="3"/>
            <a:endCxn id="254981" idx="6"/>
          </p:cNvCxnSpPr>
          <p:nvPr/>
        </p:nvCxnSpPr>
        <p:spPr bwMode="auto">
          <a:xfrm rot="5400000">
            <a:off x="3352801" y="1754187"/>
            <a:ext cx="1427162" cy="2303463"/>
          </a:xfrm>
          <a:prstGeom prst="curvedConnector2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cxnSp>
        <p:nvCxnSpPr>
          <p:cNvPr id="254990" name="AutoShape 14"/>
          <p:cNvCxnSpPr>
            <a:cxnSpLocks noChangeShapeType="1"/>
            <a:stCxn id="254982" idx="0"/>
            <a:endCxn id="254983" idx="4"/>
          </p:cNvCxnSpPr>
          <p:nvPr/>
        </p:nvCxnSpPr>
        <p:spPr bwMode="auto">
          <a:xfrm rot="16200000">
            <a:off x="4552950" y="3505200"/>
            <a:ext cx="2247900" cy="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sp>
        <p:nvSpPr>
          <p:cNvPr id="254991" name="Text Box 15"/>
          <p:cNvSpPr txBox="1">
            <a:spLocks noChangeArrowheads="1"/>
          </p:cNvSpPr>
          <p:nvPr/>
        </p:nvSpPr>
        <p:spPr bwMode="auto">
          <a:xfrm rot="19500000">
            <a:off x="2353051" y="1903512"/>
            <a:ext cx="20233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 err="1">
                <a:solidFill>
                  <a:srgbClr val="000000"/>
                </a:solidFill>
                <a:latin typeface="Courier New" pitchFamily="49" charset="0"/>
              </a:rPr>
              <a:t>startStop</a:t>
            </a:r>
            <a:r>
              <a:rPr lang="en-US" sz="1400" b="1" i="0" dirty="0">
                <a:solidFill>
                  <a:srgbClr val="000000"/>
                </a:solidFill>
                <a:latin typeface="Courier New" pitchFamily="49" charset="0"/>
              </a:rPr>
              <a:t>()</a:t>
            </a:r>
            <a:r>
              <a:rPr lang="en-US" sz="1400" b="1" i="0" dirty="0">
                <a:solidFill>
                  <a:srgbClr val="000000"/>
                </a:solidFill>
              </a:rPr>
              <a:t> </a:t>
            </a:r>
            <a:r>
              <a:rPr lang="en-US" sz="1400" b="1" i="0" dirty="0">
                <a:solidFill>
                  <a:srgbClr val="000000"/>
                </a:solidFill>
                <a:latin typeface="Times New Roman" pitchFamily="18" charset="0"/>
              </a:rPr>
              <a:t>invoked</a:t>
            </a:r>
          </a:p>
        </p:txBody>
      </p:sp>
      <p:sp>
        <p:nvSpPr>
          <p:cNvPr id="254992" name="Text Box 16"/>
          <p:cNvSpPr txBox="1">
            <a:spLocks noChangeArrowheads="1"/>
          </p:cNvSpPr>
          <p:nvPr/>
        </p:nvSpPr>
        <p:spPr bwMode="auto">
          <a:xfrm rot="5400000">
            <a:off x="5693944" y="3363219"/>
            <a:ext cx="20233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 err="1">
                <a:solidFill>
                  <a:srgbClr val="000000"/>
                </a:solidFill>
                <a:latin typeface="Courier New" pitchFamily="49" charset="0"/>
              </a:rPr>
              <a:t>stopStart</a:t>
            </a:r>
            <a:r>
              <a:rPr lang="en-US" sz="1400" b="1" i="0" dirty="0">
                <a:solidFill>
                  <a:srgbClr val="000000"/>
                </a:solidFill>
                <a:latin typeface="Courier New" pitchFamily="49" charset="0"/>
              </a:rPr>
              <a:t>()</a:t>
            </a:r>
            <a:r>
              <a:rPr lang="en-US" sz="1400" b="1" i="0" dirty="0">
                <a:solidFill>
                  <a:srgbClr val="000000"/>
                </a:solidFill>
              </a:rPr>
              <a:t> </a:t>
            </a:r>
            <a:r>
              <a:rPr lang="en-US" sz="1400" b="1" i="0" dirty="0">
                <a:solidFill>
                  <a:srgbClr val="000000"/>
                </a:solidFill>
                <a:latin typeface="Times New Roman" pitchFamily="18" charset="0"/>
              </a:rPr>
              <a:t>invoked</a:t>
            </a:r>
          </a:p>
        </p:txBody>
      </p:sp>
      <p:sp>
        <p:nvSpPr>
          <p:cNvPr id="254993" name="Text Box 17"/>
          <p:cNvSpPr txBox="1">
            <a:spLocks noChangeArrowheads="1"/>
          </p:cNvSpPr>
          <p:nvPr/>
        </p:nvSpPr>
        <p:spPr bwMode="auto">
          <a:xfrm rot="16200000">
            <a:off x="4550944" y="3439419"/>
            <a:ext cx="20233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 err="1">
                <a:solidFill>
                  <a:srgbClr val="000000"/>
                </a:solidFill>
                <a:latin typeface="Courier New" pitchFamily="49" charset="0"/>
              </a:rPr>
              <a:t>startStop</a:t>
            </a:r>
            <a:r>
              <a:rPr lang="en-US" sz="1400" b="1" i="0" dirty="0">
                <a:solidFill>
                  <a:srgbClr val="000000"/>
                </a:solidFill>
                <a:latin typeface="Courier New" pitchFamily="49" charset="0"/>
              </a:rPr>
              <a:t>()</a:t>
            </a:r>
            <a:r>
              <a:rPr lang="en-US" sz="1400" b="1" i="0" dirty="0">
                <a:solidFill>
                  <a:srgbClr val="000000"/>
                </a:solidFill>
              </a:rPr>
              <a:t> </a:t>
            </a:r>
            <a:r>
              <a:rPr lang="en-US" sz="1400" b="1" i="0" dirty="0">
                <a:solidFill>
                  <a:srgbClr val="000000"/>
                </a:solidFill>
                <a:latin typeface="Times New Roman" pitchFamily="18" charset="0"/>
              </a:rPr>
              <a:t>invoked</a:t>
            </a:r>
          </a:p>
        </p:txBody>
      </p:sp>
      <p:sp>
        <p:nvSpPr>
          <p:cNvPr id="254994" name="Text Box 18"/>
          <p:cNvSpPr txBox="1">
            <a:spLocks noChangeArrowheads="1"/>
          </p:cNvSpPr>
          <p:nvPr/>
        </p:nvSpPr>
        <p:spPr bwMode="auto">
          <a:xfrm rot="20040000">
            <a:off x="3276600" y="3048000"/>
            <a:ext cx="1579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>
                <a:solidFill>
                  <a:srgbClr val="000000"/>
                </a:solidFill>
                <a:latin typeface="Courier New" pitchFamily="49" charset="0"/>
              </a:rPr>
              <a:t>reset()</a:t>
            </a:r>
            <a:r>
              <a:rPr lang="en-US" sz="1400" b="1" i="0" dirty="0">
                <a:solidFill>
                  <a:srgbClr val="000000"/>
                </a:solidFill>
              </a:rPr>
              <a:t> </a:t>
            </a:r>
            <a:r>
              <a:rPr lang="en-US" sz="1400" b="1" i="0" dirty="0">
                <a:solidFill>
                  <a:srgbClr val="000000"/>
                </a:solidFill>
                <a:latin typeface="Times New Roman" pitchFamily="18" charset="0"/>
              </a:rPr>
              <a:t>invoked</a:t>
            </a:r>
          </a:p>
        </p:txBody>
      </p:sp>
      <p:sp>
        <p:nvSpPr>
          <p:cNvPr id="254995" name="Text Box 19"/>
          <p:cNvSpPr txBox="1">
            <a:spLocks noChangeArrowheads="1"/>
          </p:cNvSpPr>
          <p:nvPr/>
        </p:nvSpPr>
        <p:spPr bwMode="auto">
          <a:xfrm rot="840000">
            <a:off x="3048000" y="4876800"/>
            <a:ext cx="1579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>
                <a:solidFill>
                  <a:srgbClr val="000000"/>
                </a:solidFill>
                <a:latin typeface="Courier New" pitchFamily="49" charset="0"/>
              </a:rPr>
              <a:t>reset()</a:t>
            </a:r>
            <a:r>
              <a:rPr lang="en-US" sz="1400" b="1" i="0" dirty="0">
                <a:solidFill>
                  <a:srgbClr val="000000"/>
                </a:solidFill>
              </a:rPr>
              <a:t> </a:t>
            </a:r>
            <a:r>
              <a:rPr lang="en-US" sz="1400" b="1" i="0" dirty="0">
                <a:solidFill>
                  <a:srgbClr val="000000"/>
                </a:solidFill>
                <a:latin typeface="Times New Roman" pitchFamily="18" charset="0"/>
              </a:rPr>
              <a:t>invoked</a:t>
            </a:r>
          </a:p>
        </p:txBody>
      </p:sp>
      <p:sp>
        <p:nvSpPr>
          <p:cNvPr id="3" name="TextBox 2"/>
          <p:cNvSpPr txBox="1"/>
          <p:nvPr/>
        </p:nvSpPr>
        <p:spPr>
          <a:xfrm rot="19608234">
            <a:off x="2739020" y="2127038"/>
            <a:ext cx="2010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</a:p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 rot="20024854">
            <a:off x="3301753" y="3389462"/>
            <a:ext cx="2010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0}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5592955" y="3427510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</a:p>
        </p:txBody>
      </p:sp>
      <p:sp>
        <p:nvSpPr>
          <p:cNvPr id="21" name="TextBox 20"/>
          <p:cNvSpPr txBox="1"/>
          <p:nvPr/>
        </p:nvSpPr>
        <p:spPr>
          <a:xfrm rot="5400000">
            <a:off x="5394072" y="3431304"/>
            <a:ext cx="2010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{get 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2" name="TextBox 21"/>
          <p:cNvSpPr txBox="1"/>
          <p:nvPr/>
        </p:nvSpPr>
        <p:spPr>
          <a:xfrm rot="1122785">
            <a:off x="2359461" y="5149798"/>
            <a:ext cx="2010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0}</a:t>
            </a:r>
          </a:p>
        </p:txBody>
      </p:sp>
      <p:cxnSp>
        <p:nvCxnSpPr>
          <p:cNvPr id="23" name="AutoShape 13"/>
          <p:cNvCxnSpPr>
            <a:cxnSpLocks noChangeShapeType="1"/>
            <a:stCxn id="254981" idx="0"/>
            <a:endCxn id="254981" idx="1"/>
          </p:cNvCxnSpPr>
          <p:nvPr/>
        </p:nvCxnSpPr>
        <p:spPr bwMode="auto">
          <a:xfrm rot="16200000" flipH="1" flipV="1">
            <a:off x="1924050" y="2837656"/>
            <a:ext cx="189707" cy="457993"/>
          </a:xfrm>
          <a:prstGeom prst="curvedConnector3">
            <a:avLst>
              <a:gd name="adj1" fmla="val -315600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sp>
        <p:nvSpPr>
          <p:cNvPr id="27" name="Text Box 19"/>
          <p:cNvSpPr txBox="1">
            <a:spLocks noChangeArrowheads="1"/>
          </p:cNvSpPr>
          <p:nvPr/>
        </p:nvSpPr>
        <p:spPr bwMode="auto">
          <a:xfrm rot="20450223">
            <a:off x="1222051" y="2038448"/>
            <a:ext cx="159370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>
                <a:solidFill>
                  <a:srgbClr val="000000"/>
                </a:solidFill>
                <a:latin typeface="Courier New" pitchFamily="49" charset="0"/>
              </a:rPr>
              <a:t>reset()</a:t>
            </a:r>
            <a:r>
              <a:rPr lang="en-US" sz="1400" b="1" i="0" dirty="0">
                <a:solidFill>
                  <a:srgbClr val="000000"/>
                </a:solidFill>
              </a:rPr>
              <a:t> </a:t>
            </a:r>
            <a:r>
              <a:rPr lang="en-US" sz="1400" b="1" i="0" dirty="0">
                <a:solidFill>
                  <a:srgbClr val="000000"/>
                </a:solidFill>
                <a:latin typeface="Times New Roman" pitchFamily="18" charset="0"/>
              </a:rPr>
              <a:t>invoked</a:t>
            </a:r>
          </a:p>
        </p:txBody>
      </p:sp>
    </p:spTree>
    <p:extLst>
      <p:ext uri="{BB962C8B-B14F-4D97-AF65-F5344CB8AC3E}">
        <p14:creationId xmlns:p14="http://schemas.microsoft.com/office/powerpoint/2010/main" val="2573761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</a:t>
            </a:r>
            <a:r>
              <a:rPr lang="en-US">
                <a:latin typeface="Courier New" pitchFamily="49" charset="0"/>
              </a:rPr>
              <a:t>StopWatch</a:t>
            </a:r>
          </a:p>
        </p:txBody>
      </p:sp>
      <p:sp>
        <p:nvSpPr>
          <p:cNvPr id="257027" name="Oval 3"/>
          <p:cNvSpPr>
            <a:spLocks noChangeArrowheads="1"/>
          </p:cNvSpPr>
          <p:nvPr/>
        </p:nvSpPr>
        <p:spPr bwMode="auto">
          <a:xfrm>
            <a:off x="1600200" y="2971800"/>
            <a:ext cx="1295400" cy="1295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i="0">
                <a:latin typeface="Times New Roman" pitchFamily="18" charset="0"/>
              </a:rPr>
              <a:t>reset</a:t>
            </a:r>
          </a:p>
        </p:txBody>
      </p:sp>
      <p:sp>
        <p:nvSpPr>
          <p:cNvPr id="257028" name="Oval 4"/>
          <p:cNvSpPr>
            <a:spLocks noChangeArrowheads="1"/>
          </p:cNvSpPr>
          <p:nvPr/>
        </p:nvSpPr>
        <p:spPr bwMode="auto">
          <a:xfrm>
            <a:off x="5029200" y="4648200"/>
            <a:ext cx="1295400" cy="1295400"/>
          </a:xfrm>
          <a:prstGeom prst="ellipse">
            <a:avLst/>
          </a:prstGeom>
          <a:solidFill>
            <a:srgbClr val="006600">
              <a:alpha val="31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i="0">
                <a:latin typeface="Times New Roman" pitchFamily="18" charset="0"/>
              </a:rPr>
              <a:t>stopped</a:t>
            </a:r>
          </a:p>
        </p:txBody>
      </p:sp>
      <p:sp>
        <p:nvSpPr>
          <p:cNvPr id="257029" name="Oval 5"/>
          <p:cNvSpPr>
            <a:spLocks noChangeArrowheads="1"/>
          </p:cNvSpPr>
          <p:nvPr/>
        </p:nvSpPr>
        <p:spPr bwMode="auto">
          <a:xfrm>
            <a:off x="5029200" y="1066800"/>
            <a:ext cx="1295400" cy="1295400"/>
          </a:xfrm>
          <a:prstGeom prst="ellipse">
            <a:avLst/>
          </a:prstGeom>
          <a:solidFill>
            <a:srgbClr val="C0C0C0">
              <a:alpha val="39999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i="0">
                <a:latin typeface="Times New Roman" pitchFamily="18" charset="0"/>
              </a:rPr>
              <a:t>started</a:t>
            </a:r>
          </a:p>
        </p:txBody>
      </p:sp>
      <p:sp>
        <p:nvSpPr>
          <p:cNvPr id="257030" name="Line 6"/>
          <p:cNvSpPr>
            <a:spLocks noChangeShapeType="1"/>
          </p:cNvSpPr>
          <p:nvPr/>
        </p:nvSpPr>
        <p:spPr bwMode="auto">
          <a:xfrm>
            <a:off x="914400" y="3581400"/>
            <a:ext cx="609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/>
          <a:lstStyle/>
          <a:p>
            <a:endParaRPr lang="en-US"/>
          </a:p>
        </p:txBody>
      </p:sp>
      <p:cxnSp>
        <p:nvCxnSpPr>
          <p:cNvPr id="257031" name="AutoShape 7"/>
          <p:cNvCxnSpPr>
            <a:cxnSpLocks noChangeShapeType="1"/>
            <a:stCxn id="257027" idx="7"/>
            <a:endCxn id="257029" idx="2"/>
          </p:cNvCxnSpPr>
          <p:nvPr/>
        </p:nvCxnSpPr>
        <p:spPr bwMode="auto">
          <a:xfrm rot="16200000">
            <a:off x="3144837" y="1276351"/>
            <a:ext cx="1427163" cy="2303462"/>
          </a:xfrm>
          <a:prstGeom prst="curvedConnector2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cxnSp>
        <p:nvCxnSpPr>
          <p:cNvPr id="257032" name="AutoShape 8"/>
          <p:cNvCxnSpPr>
            <a:cxnSpLocks noChangeShapeType="1"/>
            <a:stCxn id="257029" idx="6"/>
            <a:endCxn id="257028" idx="6"/>
          </p:cNvCxnSpPr>
          <p:nvPr/>
        </p:nvCxnSpPr>
        <p:spPr bwMode="auto">
          <a:xfrm>
            <a:off x="6343650" y="1714500"/>
            <a:ext cx="1588" cy="3581400"/>
          </a:xfrm>
          <a:prstGeom prst="curvedConnector3">
            <a:avLst>
              <a:gd name="adj1" fmla="val 13200000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cxnSp>
        <p:nvCxnSpPr>
          <p:cNvPr id="257033" name="AutoShape 9"/>
          <p:cNvCxnSpPr>
            <a:cxnSpLocks noChangeShapeType="1"/>
            <a:stCxn id="257028" idx="2"/>
            <a:endCxn id="257027" idx="4"/>
          </p:cNvCxnSpPr>
          <p:nvPr/>
        </p:nvCxnSpPr>
        <p:spPr bwMode="auto">
          <a:xfrm rot="10800000">
            <a:off x="2247900" y="4286250"/>
            <a:ext cx="2762250" cy="1009650"/>
          </a:xfrm>
          <a:prstGeom prst="curvedConnector2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cxnSp>
        <p:nvCxnSpPr>
          <p:cNvPr id="257034" name="AutoShape 10"/>
          <p:cNvCxnSpPr>
            <a:cxnSpLocks noChangeShapeType="1"/>
            <a:stCxn id="257029" idx="3"/>
            <a:endCxn id="257027" idx="6"/>
          </p:cNvCxnSpPr>
          <p:nvPr/>
        </p:nvCxnSpPr>
        <p:spPr bwMode="auto">
          <a:xfrm rot="5400000">
            <a:off x="3352801" y="1754187"/>
            <a:ext cx="1427162" cy="2303463"/>
          </a:xfrm>
          <a:prstGeom prst="curvedConnector2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cxnSp>
        <p:nvCxnSpPr>
          <p:cNvPr id="257035" name="AutoShape 11"/>
          <p:cNvCxnSpPr>
            <a:cxnSpLocks noChangeShapeType="1"/>
            <a:stCxn id="257028" idx="0"/>
            <a:endCxn id="257029" idx="4"/>
          </p:cNvCxnSpPr>
          <p:nvPr/>
        </p:nvCxnSpPr>
        <p:spPr bwMode="auto">
          <a:xfrm rot="16200000">
            <a:off x="4552950" y="3505200"/>
            <a:ext cx="2247900" cy="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sp>
        <p:nvSpPr>
          <p:cNvPr id="257036" name="Text Box 12"/>
          <p:cNvSpPr txBox="1">
            <a:spLocks noChangeArrowheads="1"/>
          </p:cNvSpPr>
          <p:nvPr/>
        </p:nvSpPr>
        <p:spPr bwMode="auto">
          <a:xfrm rot="19500000">
            <a:off x="2362200" y="1905000"/>
            <a:ext cx="20050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>
                <a:latin typeface="Courier New" pitchFamily="49" charset="0"/>
              </a:rPr>
              <a:t>startStop()</a:t>
            </a:r>
            <a:r>
              <a:rPr lang="en-US" sz="1400" b="1" i="0"/>
              <a:t> </a:t>
            </a:r>
            <a:r>
              <a:rPr lang="en-US" sz="1400" b="1" i="0">
                <a:latin typeface="Times New Roman" pitchFamily="18" charset="0"/>
              </a:rPr>
              <a:t>invoked</a:t>
            </a:r>
          </a:p>
        </p:txBody>
      </p:sp>
      <p:sp>
        <p:nvSpPr>
          <p:cNvPr id="257037" name="Text Box 13"/>
          <p:cNvSpPr txBox="1">
            <a:spLocks noChangeArrowheads="1"/>
          </p:cNvSpPr>
          <p:nvPr/>
        </p:nvSpPr>
        <p:spPr bwMode="auto">
          <a:xfrm rot="5400000">
            <a:off x="5703093" y="3364707"/>
            <a:ext cx="20050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>
                <a:latin typeface="Courier New" pitchFamily="49" charset="0"/>
              </a:rPr>
              <a:t>startStop()</a:t>
            </a:r>
            <a:r>
              <a:rPr lang="en-US" sz="1400" b="1" i="0"/>
              <a:t> </a:t>
            </a:r>
            <a:r>
              <a:rPr lang="en-US" sz="1400" b="1" i="0">
                <a:latin typeface="Times New Roman" pitchFamily="18" charset="0"/>
              </a:rPr>
              <a:t>invoked</a:t>
            </a:r>
          </a:p>
        </p:txBody>
      </p:sp>
      <p:sp>
        <p:nvSpPr>
          <p:cNvPr id="257038" name="Text Box 14"/>
          <p:cNvSpPr txBox="1">
            <a:spLocks noChangeArrowheads="1"/>
          </p:cNvSpPr>
          <p:nvPr/>
        </p:nvSpPr>
        <p:spPr bwMode="auto">
          <a:xfrm rot="16200000">
            <a:off x="4560093" y="3440907"/>
            <a:ext cx="20050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>
                <a:latin typeface="Courier New" pitchFamily="49" charset="0"/>
              </a:rPr>
              <a:t>startStop()</a:t>
            </a:r>
            <a:r>
              <a:rPr lang="en-US" sz="1400" b="1" i="0"/>
              <a:t> </a:t>
            </a:r>
            <a:r>
              <a:rPr lang="en-US" sz="1400" b="1" i="0">
                <a:latin typeface="Times New Roman" pitchFamily="18" charset="0"/>
              </a:rPr>
              <a:t>invoked</a:t>
            </a:r>
          </a:p>
        </p:txBody>
      </p:sp>
      <p:sp>
        <p:nvSpPr>
          <p:cNvPr id="257039" name="Text Box 15"/>
          <p:cNvSpPr txBox="1">
            <a:spLocks noChangeArrowheads="1"/>
          </p:cNvSpPr>
          <p:nvPr/>
        </p:nvSpPr>
        <p:spPr bwMode="auto">
          <a:xfrm rot="20040000">
            <a:off x="3276600" y="3048000"/>
            <a:ext cx="1579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>
                <a:latin typeface="Courier New" pitchFamily="49" charset="0"/>
              </a:rPr>
              <a:t>reset()</a:t>
            </a:r>
            <a:r>
              <a:rPr lang="en-US" sz="1400" b="1" i="0"/>
              <a:t> </a:t>
            </a:r>
            <a:r>
              <a:rPr lang="en-US" sz="1400" b="1" i="0">
                <a:latin typeface="Times New Roman" pitchFamily="18" charset="0"/>
              </a:rPr>
              <a:t>invoked</a:t>
            </a:r>
          </a:p>
        </p:txBody>
      </p:sp>
      <p:sp>
        <p:nvSpPr>
          <p:cNvPr id="257040" name="Text Box 16"/>
          <p:cNvSpPr txBox="1">
            <a:spLocks noChangeArrowheads="1"/>
          </p:cNvSpPr>
          <p:nvPr/>
        </p:nvSpPr>
        <p:spPr bwMode="auto">
          <a:xfrm rot="840000">
            <a:off x="3048000" y="4876800"/>
            <a:ext cx="1579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>
                <a:latin typeface="Courier New" pitchFamily="49" charset="0"/>
              </a:rPr>
              <a:t>reset()</a:t>
            </a:r>
            <a:r>
              <a:rPr lang="en-US" sz="1400" b="1" i="0"/>
              <a:t> </a:t>
            </a:r>
            <a:r>
              <a:rPr lang="en-US" sz="1400" b="1" i="0">
                <a:latin typeface="Times New Roman" pitchFamily="18" charset="0"/>
              </a:rPr>
              <a:t>invoked</a:t>
            </a:r>
          </a:p>
        </p:txBody>
      </p:sp>
      <p:sp>
        <p:nvSpPr>
          <p:cNvPr id="257041" name="Oval 17"/>
          <p:cNvSpPr>
            <a:spLocks noChangeArrowheads="1"/>
          </p:cNvSpPr>
          <p:nvPr/>
        </p:nvSpPr>
        <p:spPr bwMode="auto">
          <a:xfrm>
            <a:off x="5029200" y="2819400"/>
            <a:ext cx="1295400" cy="1295400"/>
          </a:xfrm>
          <a:prstGeom prst="ellipse">
            <a:avLst/>
          </a:prstGeom>
          <a:solidFill>
            <a:srgbClr val="00FF00">
              <a:alpha val="31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i="0">
                <a:latin typeface="Times New Roman" pitchFamily="18" charset="0"/>
              </a:rPr>
              <a:t>start/stop</a:t>
            </a:r>
          </a:p>
        </p:txBody>
      </p:sp>
      <p:cxnSp>
        <p:nvCxnSpPr>
          <p:cNvPr id="257042" name="AutoShape 18"/>
          <p:cNvCxnSpPr>
            <a:cxnSpLocks noChangeShapeType="1"/>
            <a:stCxn id="257027" idx="7"/>
            <a:endCxn id="257041" idx="1"/>
          </p:cNvCxnSpPr>
          <p:nvPr/>
        </p:nvCxnSpPr>
        <p:spPr bwMode="auto">
          <a:xfrm rot="16200000">
            <a:off x="3886201" y="1809750"/>
            <a:ext cx="152400" cy="2511425"/>
          </a:xfrm>
          <a:prstGeom prst="curvedConnector3">
            <a:avLst>
              <a:gd name="adj1" fmla="val 361458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sp>
        <p:nvSpPr>
          <p:cNvPr id="257043" name="Text Box 19"/>
          <p:cNvSpPr txBox="1">
            <a:spLocks noChangeArrowheads="1"/>
          </p:cNvSpPr>
          <p:nvPr/>
        </p:nvSpPr>
        <p:spPr bwMode="auto">
          <a:xfrm>
            <a:off x="2895600" y="2743200"/>
            <a:ext cx="20050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>
                <a:latin typeface="Courier New" pitchFamily="49" charset="0"/>
              </a:rPr>
              <a:t>startStop()</a:t>
            </a:r>
            <a:r>
              <a:rPr lang="en-US" sz="1400" b="1" i="0"/>
              <a:t> </a:t>
            </a:r>
            <a:r>
              <a:rPr lang="en-US" sz="1400" b="1" i="0">
                <a:latin typeface="Times New Roman" pitchFamily="18" charset="0"/>
              </a:rPr>
              <a:t>invoked</a:t>
            </a:r>
          </a:p>
        </p:txBody>
      </p:sp>
      <p:cxnSp>
        <p:nvCxnSpPr>
          <p:cNvPr id="257044" name="AutoShape 20"/>
          <p:cNvCxnSpPr>
            <a:cxnSpLocks noChangeShapeType="1"/>
            <a:stCxn id="257041" idx="3"/>
            <a:endCxn id="257027" idx="5"/>
          </p:cNvCxnSpPr>
          <p:nvPr/>
        </p:nvCxnSpPr>
        <p:spPr bwMode="auto">
          <a:xfrm rot="5400000">
            <a:off x="3886201" y="2765425"/>
            <a:ext cx="152400" cy="2511425"/>
          </a:xfrm>
          <a:prstGeom prst="curvedConnector3">
            <a:avLst>
              <a:gd name="adj1" fmla="val 361458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sp>
        <p:nvSpPr>
          <p:cNvPr id="257045" name="Text Box 21"/>
          <p:cNvSpPr txBox="1">
            <a:spLocks noChangeArrowheads="1"/>
          </p:cNvSpPr>
          <p:nvPr/>
        </p:nvSpPr>
        <p:spPr bwMode="auto">
          <a:xfrm>
            <a:off x="3200400" y="4114800"/>
            <a:ext cx="1579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>
                <a:latin typeface="Courier New" pitchFamily="49" charset="0"/>
              </a:rPr>
              <a:t>reset()</a:t>
            </a:r>
            <a:r>
              <a:rPr lang="en-US" sz="1400" b="1" i="0"/>
              <a:t> </a:t>
            </a:r>
            <a:r>
              <a:rPr lang="en-US" sz="1400" b="1" i="0">
                <a:latin typeface="Times New Roman" pitchFamily="18" charset="0"/>
              </a:rPr>
              <a:t>invoked</a:t>
            </a:r>
          </a:p>
        </p:txBody>
      </p:sp>
      <p:cxnSp>
        <p:nvCxnSpPr>
          <p:cNvPr id="23" name="AutoShape 18"/>
          <p:cNvCxnSpPr>
            <a:cxnSpLocks noChangeShapeType="1"/>
            <a:stCxn id="257041" idx="7"/>
            <a:endCxn id="257041" idx="5"/>
          </p:cNvCxnSpPr>
          <p:nvPr/>
        </p:nvCxnSpPr>
        <p:spPr bwMode="auto">
          <a:xfrm rot="16200000" flipH="1">
            <a:off x="5676900" y="3467100"/>
            <a:ext cx="915986" cy="12700"/>
          </a:xfrm>
          <a:prstGeom prst="curvedConnector5">
            <a:avLst>
              <a:gd name="adj1" fmla="val -24957"/>
              <a:gd name="adj2" fmla="val 10506244"/>
              <a:gd name="adj3" fmla="val 124957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sp>
        <p:nvSpPr>
          <p:cNvPr id="26" name="Text Box 19"/>
          <p:cNvSpPr txBox="1">
            <a:spLocks noChangeArrowheads="1"/>
          </p:cNvSpPr>
          <p:nvPr/>
        </p:nvSpPr>
        <p:spPr bwMode="auto">
          <a:xfrm rot="5400000">
            <a:off x="6693694" y="3288002"/>
            <a:ext cx="20050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 err="1">
                <a:latin typeface="Courier New" pitchFamily="49" charset="0"/>
              </a:rPr>
              <a:t>startStop</a:t>
            </a:r>
            <a:r>
              <a:rPr lang="en-US" sz="1400" b="1" i="0" dirty="0">
                <a:latin typeface="Courier New" pitchFamily="49" charset="0"/>
              </a:rPr>
              <a:t>()</a:t>
            </a:r>
            <a:r>
              <a:rPr lang="en-US" sz="1400" b="1" i="0" dirty="0"/>
              <a:t> </a:t>
            </a:r>
            <a:r>
              <a:rPr lang="en-US" sz="1400" b="1" i="0" dirty="0">
                <a:latin typeface="Times New Roman" pitchFamily="18" charset="0"/>
              </a:rPr>
              <a:t>invoked</a:t>
            </a:r>
          </a:p>
        </p:txBody>
      </p:sp>
    </p:spTree>
    <p:extLst>
      <p:ext uri="{BB962C8B-B14F-4D97-AF65-F5344CB8AC3E}">
        <p14:creationId xmlns:p14="http://schemas.microsoft.com/office/powerpoint/2010/main" val="391249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570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2570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2570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257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2570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2570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2570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257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2570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2570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538 " pathEditMode="relative" ptsTypes="AA">
                                      <p:cBhvr>
                                        <p:cTn id="36" dur="2000" fill="hold"/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70021E-6 L 3.33333E-6 -0.26648 " pathEditMode="relative" ptsTypes="AA">
                                      <p:cBhvr>
                                        <p:cTn id="38" dur="2000" fill="hold"/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9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257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257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57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5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5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5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5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8" grpId="0" animBg="1"/>
      <p:bldP spid="257028" grpId="1" animBg="1"/>
      <p:bldP spid="257029" grpId="0" animBg="1"/>
      <p:bldP spid="257029" grpId="1" animBg="1"/>
      <p:bldP spid="257036" grpId="0"/>
      <p:bldP spid="257037" grpId="0"/>
      <p:bldP spid="257038" grpId="0"/>
      <p:bldP spid="257039" grpId="0"/>
      <p:bldP spid="257040" grpId="0"/>
      <p:bldP spid="257041" grpId="0" animBg="1"/>
      <p:bldP spid="257043" grpId="0"/>
      <p:bldP spid="25704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F999F-A98D-2DA1-0A0C-5FBD41227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>
            <a:extLst>
              <a:ext uri="{FF2B5EF4-FFF2-40B4-BE49-F238E27FC236}">
                <a16:creationId xmlns:a16="http://schemas.microsoft.com/office/drawing/2014/main" id="{FB357803-778E-473F-0692-44FB8DA2AC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</a:t>
            </a:r>
            <a:r>
              <a:rPr lang="en-US">
                <a:latin typeface="Courier New" pitchFamily="49" charset="0"/>
              </a:rPr>
              <a:t>StopWatch</a:t>
            </a:r>
          </a:p>
        </p:txBody>
      </p:sp>
      <p:sp>
        <p:nvSpPr>
          <p:cNvPr id="257027" name="Oval 3">
            <a:extLst>
              <a:ext uri="{FF2B5EF4-FFF2-40B4-BE49-F238E27FC236}">
                <a16:creationId xmlns:a16="http://schemas.microsoft.com/office/drawing/2014/main" id="{C4121FEA-B9B0-E11D-6D53-3894A317E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971800"/>
            <a:ext cx="1295400" cy="1295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i="0">
                <a:latin typeface="Times New Roman" pitchFamily="18" charset="0"/>
              </a:rPr>
              <a:t>reset</a:t>
            </a:r>
          </a:p>
        </p:txBody>
      </p:sp>
      <p:sp>
        <p:nvSpPr>
          <p:cNvPr id="257030" name="Line 6">
            <a:extLst>
              <a:ext uri="{FF2B5EF4-FFF2-40B4-BE49-F238E27FC236}">
                <a16:creationId xmlns:a16="http://schemas.microsoft.com/office/drawing/2014/main" id="{5F0C9B9E-B2B6-7888-EEC4-4390D4293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3581400"/>
            <a:ext cx="609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7041" name="Oval 17">
            <a:extLst>
              <a:ext uri="{FF2B5EF4-FFF2-40B4-BE49-F238E27FC236}">
                <a16:creationId xmlns:a16="http://schemas.microsoft.com/office/drawing/2014/main" id="{86B5E0A7-01E8-5768-456F-299F5A6DD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1295400" cy="1295400"/>
          </a:xfrm>
          <a:prstGeom prst="ellipse">
            <a:avLst/>
          </a:prstGeom>
          <a:solidFill>
            <a:srgbClr val="00FF00">
              <a:alpha val="31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i="0">
                <a:latin typeface="Times New Roman" pitchFamily="18" charset="0"/>
              </a:rPr>
              <a:t>start/stop</a:t>
            </a:r>
          </a:p>
        </p:txBody>
      </p:sp>
      <p:cxnSp>
        <p:nvCxnSpPr>
          <p:cNvPr id="257042" name="AutoShape 18">
            <a:extLst>
              <a:ext uri="{FF2B5EF4-FFF2-40B4-BE49-F238E27FC236}">
                <a16:creationId xmlns:a16="http://schemas.microsoft.com/office/drawing/2014/main" id="{2A7B2D68-7412-5D9D-278D-FEE589D598B8}"/>
              </a:ext>
            </a:extLst>
          </p:cNvPr>
          <p:cNvCxnSpPr>
            <a:cxnSpLocks noChangeShapeType="1"/>
            <a:stCxn id="257027" idx="7"/>
            <a:endCxn id="257041" idx="1"/>
          </p:cNvCxnSpPr>
          <p:nvPr/>
        </p:nvCxnSpPr>
        <p:spPr bwMode="auto">
          <a:xfrm rot="16200000">
            <a:off x="3886201" y="1809750"/>
            <a:ext cx="152400" cy="2511425"/>
          </a:xfrm>
          <a:prstGeom prst="curvedConnector3">
            <a:avLst>
              <a:gd name="adj1" fmla="val 361458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sp>
        <p:nvSpPr>
          <p:cNvPr id="257043" name="Text Box 19">
            <a:extLst>
              <a:ext uri="{FF2B5EF4-FFF2-40B4-BE49-F238E27FC236}">
                <a16:creationId xmlns:a16="http://schemas.microsoft.com/office/drawing/2014/main" id="{C094AE32-F3B2-6342-FC5A-ACECBBB76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241167"/>
            <a:ext cx="20050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 err="1">
                <a:latin typeface="Courier New" pitchFamily="49" charset="0"/>
              </a:rPr>
              <a:t>startStop</a:t>
            </a:r>
            <a:r>
              <a:rPr lang="en-US" sz="1400" b="1" i="0" dirty="0">
                <a:latin typeface="Courier New" pitchFamily="49" charset="0"/>
              </a:rPr>
              <a:t>()</a:t>
            </a:r>
            <a:r>
              <a:rPr lang="en-US" sz="1400" b="1" i="0" dirty="0"/>
              <a:t> </a:t>
            </a:r>
            <a:r>
              <a:rPr lang="en-US" sz="1400" b="1" i="0" dirty="0">
                <a:latin typeface="Times New Roman" pitchFamily="18" charset="0"/>
              </a:rPr>
              <a:t>invoked</a:t>
            </a:r>
          </a:p>
        </p:txBody>
      </p:sp>
      <p:cxnSp>
        <p:nvCxnSpPr>
          <p:cNvPr id="257044" name="AutoShape 20">
            <a:extLst>
              <a:ext uri="{FF2B5EF4-FFF2-40B4-BE49-F238E27FC236}">
                <a16:creationId xmlns:a16="http://schemas.microsoft.com/office/drawing/2014/main" id="{8EEC18E3-6B36-2B2D-7B95-59422A7DF69C}"/>
              </a:ext>
            </a:extLst>
          </p:cNvPr>
          <p:cNvCxnSpPr>
            <a:cxnSpLocks noChangeShapeType="1"/>
            <a:stCxn id="257041" idx="3"/>
            <a:endCxn id="257027" idx="5"/>
          </p:cNvCxnSpPr>
          <p:nvPr/>
        </p:nvCxnSpPr>
        <p:spPr bwMode="auto">
          <a:xfrm rot="5400000">
            <a:off x="3886201" y="2765425"/>
            <a:ext cx="152400" cy="2511425"/>
          </a:xfrm>
          <a:prstGeom prst="curvedConnector3">
            <a:avLst>
              <a:gd name="adj1" fmla="val 361458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sp>
        <p:nvSpPr>
          <p:cNvPr id="257045" name="Text Box 21">
            <a:extLst>
              <a:ext uri="{FF2B5EF4-FFF2-40B4-BE49-F238E27FC236}">
                <a16:creationId xmlns:a16="http://schemas.microsoft.com/office/drawing/2014/main" id="{811688CC-89F6-DFC0-37A8-64C920F3C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114800"/>
            <a:ext cx="1579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>
                <a:latin typeface="Courier New" pitchFamily="49" charset="0"/>
              </a:rPr>
              <a:t>reset()</a:t>
            </a:r>
            <a:r>
              <a:rPr lang="en-US" sz="1400" b="1" i="0"/>
              <a:t> </a:t>
            </a:r>
            <a:r>
              <a:rPr lang="en-US" sz="1400" b="1" i="0">
                <a:latin typeface="Times New Roman" pitchFamily="18" charset="0"/>
              </a:rPr>
              <a:t>invoked</a:t>
            </a:r>
          </a:p>
        </p:txBody>
      </p:sp>
      <p:cxnSp>
        <p:nvCxnSpPr>
          <p:cNvPr id="23" name="AutoShape 18">
            <a:extLst>
              <a:ext uri="{FF2B5EF4-FFF2-40B4-BE49-F238E27FC236}">
                <a16:creationId xmlns:a16="http://schemas.microsoft.com/office/drawing/2014/main" id="{03E82139-0839-4129-EB3E-8AED136B50C8}"/>
              </a:ext>
            </a:extLst>
          </p:cNvPr>
          <p:cNvCxnSpPr>
            <a:cxnSpLocks noChangeShapeType="1"/>
            <a:stCxn id="257041" idx="7"/>
            <a:endCxn id="257041" idx="5"/>
          </p:cNvCxnSpPr>
          <p:nvPr/>
        </p:nvCxnSpPr>
        <p:spPr bwMode="auto">
          <a:xfrm rot="16200000" flipH="1">
            <a:off x="5676900" y="3467100"/>
            <a:ext cx="915986" cy="12700"/>
          </a:xfrm>
          <a:prstGeom prst="curvedConnector5">
            <a:avLst>
              <a:gd name="adj1" fmla="val -24957"/>
              <a:gd name="adj2" fmla="val 10506244"/>
              <a:gd name="adj3" fmla="val 124957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sp>
        <p:nvSpPr>
          <p:cNvPr id="26" name="Text Box 19">
            <a:extLst>
              <a:ext uri="{FF2B5EF4-FFF2-40B4-BE49-F238E27FC236}">
                <a16:creationId xmlns:a16="http://schemas.microsoft.com/office/drawing/2014/main" id="{A8E71E49-24F2-123E-F885-D69C4E9DD602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846094" y="3288002"/>
            <a:ext cx="20050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 err="1">
                <a:latin typeface="Courier New" pitchFamily="49" charset="0"/>
              </a:rPr>
              <a:t>startStop</a:t>
            </a:r>
            <a:r>
              <a:rPr lang="en-US" sz="1400" b="1" i="0" dirty="0">
                <a:latin typeface="Courier New" pitchFamily="49" charset="0"/>
              </a:rPr>
              <a:t>()</a:t>
            </a:r>
            <a:r>
              <a:rPr lang="en-US" sz="1400" b="1" i="0" dirty="0"/>
              <a:t> </a:t>
            </a:r>
            <a:r>
              <a:rPr lang="en-US" sz="1400" b="1" i="0" dirty="0">
                <a:latin typeface="Times New Roman" pitchFamily="18" charset="0"/>
              </a:rPr>
              <a:t>invoked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CD1DCC-DB2D-529E-DAB6-6225126E42CE}"/>
              </a:ext>
            </a:extLst>
          </p:cNvPr>
          <p:cNvSpPr txBox="1"/>
          <p:nvPr/>
        </p:nvSpPr>
        <p:spPr>
          <a:xfrm>
            <a:off x="2996844" y="2710190"/>
            <a:ext cx="2010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</a:p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5DA71-EDD7-CB0B-B8D8-1DA7BD8EB478}"/>
              </a:ext>
            </a:extLst>
          </p:cNvPr>
          <p:cNvSpPr txBox="1"/>
          <p:nvPr/>
        </p:nvSpPr>
        <p:spPr>
          <a:xfrm>
            <a:off x="2957157" y="4547255"/>
            <a:ext cx="2010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527B30-E675-3AA1-4685-D9D3B7FE1C92}"/>
              </a:ext>
            </a:extLst>
          </p:cNvPr>
          <p:cNvSpPr txBox="1"/>
          <p:nvPr/>
        </p:nvSpPr>
        <p:spPr>
          <a:xfrm rot="5400000">
            <a:off x="6613268" y="3313211"/>
            <a:ext cx="2010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{get 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1715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as an Outline / Blueprint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00600"/>
          </a:xfrm>
          <a:noFill/>
          <a:ln w="38100">
            <a:solidFill>
              <a:schemeClr val="tx1"/>
            </a:solidFill>
          </a:ln>
        </p:spPr>
        <p:txBody>
          <a:bodyPr/>
          <a:lstStyle/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Class Name:</a:t>
            </a:r>
            <a:r>
              <a:rPr lang="en-US" sz="2400" dirty="0"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</a:rPr>
              <a:t>StopWatch</a:t>
            </a:r>
            <a:endParaRPr lang="en-US" sz="2400" b="1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endParaRPr lang="en-US" sz="24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Methods (actions):</a:t>
            </a:r>
          </a:p>
          <a:p>
            <a:pPr>
              <a:buFontTx/>
              <a:buNone/>
            </a:pPr>
            <a:r>
              <a:rPr lang="en-US" sz="2400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reset</a:t>
            </a:r>
            <a:r>
              <a:rPr lang="en-US" sz="2400" dirty="0">
                <a:latin typeface="Courier New" pitchFamily="49" charset="0"/>
              </a:rPr>
              <a:t>:		press reset button to reset 			stopwatch to 0.</a:t>
            </a:r>
          </a:p>
          <a:p>
            <a:pPr>
              <a:buFontTx/>
              <a:buNone/>
            </a:pPr>
            <a:r>
              <a:rPr lang="en-US" sz="2400" dirty="0">
                <a:latin typeface="Courier New" pitchFamily="49" charset="0"/>
              </a:rPr>
              <a:t>	</a:t>
            </a:r>
            <a:r>
              <a:rPr lang="en-US" sz="2400" b="1" dirty="0" err="1">
                <a:solidFill>
                  <a:srgbClr val="006600"/>
                </a:solidFill>
                <a:latin typeface="Courier New" pitchFamily="49" charset="0"/>
              </a:rPr>
              <a:t>startStop</a:t>
            </a:r>
            <a:r>
              <a:rPr lang="en-US" sz="2400" dirty="0">
                <a:latin typeface="Courier New" pitchFamily="49" charset="0"/>
              </a:rPr>
              <a:t>:	press start/stop button to 			start/stop counting.</a:t>
            </a:r>
          </a:p>
          <a:p>
            <a:pPr>
              <a:buFontTx/>
              <a:buNone/>
            </a:pPr>
            <a:r>
              <a:rPr lang="en-US" sz="2400" dirty="0">
                <a:latin typeface="Courier New" pitchFamily="49" charset="0"/>
              </a:rPr>
              <a:t>	</a:t>
            </a:r>
            <a:r>
              <a:rPr lang="en-US" sz="2400" b="1" dirty="0" err="1">
                <a:solidFill>
                  <a:srgbClr val="006600"/>
                </a:solidFill>
                <a:latin typeface="Courier New" pitchFamily="49" charset="0"/>
              </a:rPr>
              <a:t>toString</a:t>
            </a:r>
            <a:r>
              <a:rPr lang="en-US" sz="2400" dirty="0">
                <a:latin typeface="Courier New" pitchFamily="49" charset="0"/>
              </a:rPr>
              <a:t>:	display time elapsed.</a:t>
            </a: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Data:</a:t>
            </a:r>
          </a:p>
          <a:p>
            <a:pPr>
              <a:buFontTx/>
              <a:buNone/>
            </a:pPr>
            <a:r>
              <a:rPr lang="en-US" sz="2400" dirty="0">
                <a:latin typeface="Courier New" pitchFamily="49" charset="0"/>
              </a:rPr>
              <a:t>	</a:t>
            </a:r>
            <a:r>
              <a:rPr lang="en-US" sz="2400" b="1" dirty="0" err="1">
                <a:solidFill>
                  <a:srgbClr val="006600"/>
                </a:solidFill>
                <a:latin typeface="Courier New" pitchFamily="49" charset="0"/>
              </a:rPr>
              <a:t>InitialTime</a:t>
            </a:r>
            <a:r>
              <a:rPr lang="en-US" sz="2400" dirty="0">
                <a:latin typeface="Courier New" pitchFamily="49" charset="0"/>
              </a:rPr>
              <a:t>: time when reset was pressed.</a:t>
            </a:r>
          </a:p>
          <a:p>
            <a:pPr>
              <a:buFontTx/>
              <a:buNone/>
            </a:pPr>
            <a:r>
              <a:rPr lang="en-US" sz="2400" dirty="0">
                <a:latin typeface="Courier New" pitchFamily="49" charset="0"/>
              </a:rPr>
              <a:t>	</a:t>
            </a:r>
            <a:r>
              <a:rPr lang="en-US" sz="2400" b="1" dirty="0" err="1">
                <a:solidFill>
                  <a:srgbClr val="006600"/>
                </a:solidFill>
                <a:latin typeface="Courier New" pitchFamily="49" charset="0"/>
              </a:rPr>
              <a:t>CurrentTime</a:t>
            </a:r>
            <a:r>
              <a:rPr lang="en-US" sz="2400" dirty="0">
                <a:latin typeface="Courier New" pitchFamily="49" charset="0"/>
              </a:rPr>
              <a:t>: current time.	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Objects of Type StopWatch</a:t>
            </a:r>
          </a:p>
        </p:txBody>
      </p:sp>
      <p:grpSp>
        <p:nvGrpSpPr>
          <p:cNvPr id="232454" name="Group 6"/>
          <p:cNvGrpSpPr>
            <a:grpSpLocks/>
          </p:cNvGrpSpPr>
          <p:nvPr/>
        </p:nvGrpSpPr>
        <p:grpSpPr bwMode="auto">
          <a:xfrm>
            <a:off x="1295400" y="1981200"/>
            <a:ext cx="3200400" cy="1371600"/>
            <a:chOff x="576" y="912"/>
            <a:chExt cx="1776" cy="864"/>
          </a:xfrm>
        </p:grpSpPr>
        <p:sp>
          <p:nvSpPr>
            <p:cNvPr id="232453" name="AutoShape 5"/>
            <p:cNvSpPr>
              <a:spLocks noChangeArrowheads="1"/>
            </p:cNvSpPr>
            <p:nvPr/>
          </p:nvSpPr>
          <p:spPr bwMode="auto">
            <a:xfrm>
              <a:off x="576" y="912"/>
              <a:ext cx="1152" cy="336"/>
            </a:xfrm>
            <a:prstGeom prst="roundRect">
              <a:avLst>
                <a:gd name="adj" fmla="val 16667"/>
              </a:avLst>
            </a:prstGeom>
            <a:solidFill>
              <a:srgbClr val="99CCFF">
                <a:alpha val="70000"/>
              </a:srgbClr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/>
                <a:t>joeStopWatch</a:t>
              </a:r>
            </a:p>
          </p:txBody>
        </p:sp>
        <p:sp>
          <p:nvSpPr>
            <p:cNvPr id="232452" name="Rectangle 4"/>
            <p:cNvSpPr>
              <a:spLocks noChangeArrowheads="1"/>
            </p:cNvSpPr>
            <p:nvPr/>
          </p:nvSpPr>
          <p:spPr bwMode="auto">
            <a:xfrm>
              <a:off x="576" y="1200"/>
              <a:ext cx="1776" cy="576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/>
                <a:t>initialTime: 1171418618443</a:t>
              </a:r>
            </a:p>
            <a:p>
              <a:r>
                <a:rPr lang="en-US"/>
                <a:t>currentTime: 1171418621639</a:t>
              </a:r>
            </a:p>
          </p:txBody>
        </p:sp>
      </p:grpSp>
      <p:grpSp>
        <p:nvGrpSpPr>
          <p:cNvPr id="232455" name="Group 7"/>
          <p:cNvGrpSpPr>
            <a:grpSpLocks/>
          </p:cNvGrpSpPr>
          <p:nvPr/>
        </p:nvGrpSpPr>
        <p:grpSpPr bwMode="auto">
          <a:xfrm>
            <a:off x="5105400" y="1981200"/>
            <a:ext cx="3429000" cy="1371600"/>
            <a:chOff x="576" y="912"/>
            <a:chExt cx="1776" cy="864"/>
          </a:xfrm>
        </p:grpSpPr>
        <p:sp>
          <p:nvSpPr>
            <p:cNvPr id="232456" name="AutoShape 8"/>
            <p:cNvSpPr>
              <a:spLocks noChangeArrowheads="1"/>
            </p:cNvSpPr>
            <p:nvPr/>
          </p:nvSpPr>
          <p:spPr bwMode="auto">
            <a:xfrm>
              <a:off x="576" y="912"/>
              <a:ext cx="1152" cy="336"/>
            </a:xfrm>
            <a:prstGeom prst="roundRect">
              <a:avLst>
                <a:gd name="adj" fmla="val 16667"/>
              </a:avLst>
            </a:prstGeom>
            <a:solidFill>
              <a:srgbClr val="99CCFF">
                <a:alpha val="70000"/>
              </a:srgbClr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/>
                <a:t>janeStopWatch</a:t>
              </a:r>
            </a:p>
          </p:txBody>
        </p:sp>
        <p:sp>
          <p:nvSpPr>
            <p:cNvPr id="232457" name="Rectangle 9"/>
            <p:cNvSpPr>
              <a:spLocks noChangeArrowheads="1"/>
            </p:cNvSpPr>
            <p:nvPr/>
          </p:nvSpPr>
          <p:spPr bwMode="auto">
            <a:xfrm>
              <a:off x="576" y="1200"/>
              <a:ext cx="1776" cy="576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/>
                <a:t>initialTime: 1171418618443</a:t>
              </a:r>
            </a:p>
            <a:p>
              <a:r>
                <a:rPr lang="en-US"/>
                <a:t>currentTime: 1171418624693</a:t>
              </a:r>
            </a:p>
          </p:txBody>
        </p:sp>
      </p:grpSp>
      <p:grpSp>
        <p:nvGrpSpPr>
          <p:cNvPr id="232458" name="Group 10"/>
          <p:cNvGrpSpPr>
            <a:grpSpLocks/>
          </p:cNvGrpSpPr>
          <p:nvPr/>
        </p:nvGrpSpPr>
        <p:grpSpPr bwMode="auto">
          <a:xfrm>
            <a:off x="3200400" y="3962400"/>
            <a:ext cx="3352800" cy="1371600"/>
            <a:chOff x="576" y="912"/>
            <a:chExt cx="1776" cy="864"/>
          </a:xfrm>
        </p:grpSpPr>
        <p:sp>
          <p:nvSpPr>
            <p:cNvPr id="232459" name="AutoShape 11"/>
            <p:cNvSpPr>
              <a:spLocks noChangeArrowheads="1"/>
            </p:cNvSpPr>
            <p:nvPr/>
          </p:nvSpPr>
          <p:spPr bwMode="auto">
            <a:xfrm>
              <a:off x="576" y="912"/>
              <a:ext cx="1152" cy="336"/>
            </a:xfrm>
            <a:prstGeom prst="roundRect">
              <a:avLst>
                <a:gd name="adj" fmla="val 16667"/>
              </a:avLst>
            </a:prstGeom>
            <a:solidFill>
              <a:srgbClr val="99CCFF">
                <a:alpha val="70000"/>
              </a:srgbClr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/>
                <a:t>myStopWatch</a:t>
              </a:r>
            </a:p>
          </p:txBody>
        </p:sp>
        <p:sp>
          <p:nvSpPr>
            <p:cNvPr id="232460" name="Rectangle 12"/>
            <p:cNvSpPr>
              <a:spLocks noChangeArrowheads="1"/>
            </p:cNvSpPr>
            <p:nvPr/>
          </p:nvSpPr>
          <p:spPr bwMode="auto">
            <a:xfrm>
              <a:off x="576" y="1200"/>
              <a:ext cx="1776" cy="576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/>
                <a:t>initialTime: 1171418618443</a:t>
              </a:r>
            </a:p>
            <a:p>
              <a:r>
                <a:rPr lang="en-US"/>
                <a:t>currentTime: 1171418618443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Files and Separate Compilation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Each Java class definition should be in a file by itself.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name of the file should be the same as the name of the class.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file name should end in </a:t>
            </a:r>
            <a:r>
              <a:rPr lang="en-US" b="1" dirty="0">
                <a:solidFill>
                  <a:srgbClr val="333399"/>
                </a:solidFill>
                <a:latin typeface="Courier New" pitchFamily="49" charset="0"/>
              </a:rPr>
              <a:t>.java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A Java class must be compiled before it is used in a program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compiled byte code is stored in a file with the same name, but ending in </a:t>
            </a:r>
            <a:r>
              <a:rPr lang="en-US" b="1" dirty="0">
                <a:solidFill>
                  <a:srgbClr val="333399"/>
                </a:solidFill>
                <a:latin typeface="Courier New" pitchFamily="49" charset="0"/>
              </a:rPr>
              <a:t>.class</a:t>
            </a:r>
            <a:endParaRPr lang="en-US" b="1" dirty="0">
              <a:solidFill>
                <a:srgbClr val="333399"/>
              </a:solidFill>
            </a:endParaRPr>
          </a:p>
          <a:p>
            <a:pPr>
              <a:lnSpc>
                <a:spcPct val="90000"/>
              </a:lnSpc>
            </a:pPr>
            <a:r>
              <a:rPr lang="en-US" dirty="0"/>
              <a:t>If all the classes used in a program are in the same directory as the program file, you do not need to import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Defining the </a:t>
            </a:r>
            <a:r>
              <a:rPr lang="en-US">
                <a:latin typeface="Courier New" pitchFamily="49" charset="0"/>
              </a:rPr>
              <a:t>StopWatch</a:t>
            </a:r>
            <a:r>
              <a:rPr lang="en-US"/>
              <a:t> Class</a:t>
            </a:r>
          </a:p>
        </p:txBody>
      </p:sp>
      <p:sp>
        <p:nvSpPr>
          <p:cNvPr id="2365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00600"/>
          </a:xfrm>
          <a:noFill/>
          <a:ln w="38100"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class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</a:rPr>
              <a:t>StopWatch</a:t>
            </a:r>
            <a:endParaRPr lang="en-US" sz="2400" b="1" dirty="0"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private</a:t>
            </a:r>
            <a:r>
              <a:rPr lang="en-US" sz="2400" b="1" dirty="0">
                <a:latin typeface="Courier New" pitchFamily="49" charset="0"/>
              </a:rPr>
              <a:t> long </a:t>
            </a:r>
            <a:r>
              <a:rPr lang="en-US" sz="2400" b="1" dirty="0" err="1">
                <a:latin typeface="Courier New" pitchFamily="49" charset="0"/>
              </a:rPr>
              <a:t>initialTime</a:t>
            </a:r>
            <a:r>
              <a:rPr lang="en-US" sz="2400" b="1" dirty="0">
                <a:latin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private</a:t>
            </a:r>
            <a:r>
              <a:rPr lang="en-US" sz="2400" b="1" dirty="0">
                <a:latin typeface="Courier New" pitchFamily="49" charset="0"/>
              </a:rPr>
              <a:t> long </a:t>
            </a:r>
            <a:r>
              <a:rPr lang="en-US" sz="2400" b="1" dirty="0" err="1">
                <a:latin typeface="Courier New" pitchFamily="49" charset="0"/>
              </a:rPr>
              <a:t>currentTime</a:t>
            </a:r>
            <a:r>
              <a:rPr lang="en-US" sz="2400" b="1" dirty="0">
                <a:latin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void</a:t>
            </a:r>
            <a:r>
              <a:rPr lang="en-US" sz="2400" b="1" dirty="0">
                <a:latin typeface="Courier New" pitchFamily="49" charset="0"/>
              </a:rPr>
              <a:t> reset()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	{ . . .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void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</a:rPr>
              <a:t>startStop</a:t>
            </a:r>
            <a:r>
              <a:rPr lang="en-US" sz="2400" b="1" dirty="0">
                <a:latin typeface="Courier New" pitchFamily="49" charset="0"/>
              </a:rPr>
              <a:t>()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	{ . . .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String </a:t>
            </a:r>
            <a:r>
              <a:rPr lang="en-US" sz="2400" b="1" dirty="0" err="1">
                <a:latin typeface="Courier New" pitchFamily="49" charset="0"/>
              </a:rPr>
              <a:t>toString</a:t>
            </a:r>
            <a:r>
              <a:rPr lang="en-US" sz="2400" b="1" dirty="0">
                <a:latin typeface="Courier New" pitchFamily="49" charset="0"/>
              </a:rPr>
              <a:t>()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	{ . . .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}</a:t>
            </a:r>
          </a:p>
        </p:txBody>
      </p:sp>
      <p:sp>
        <p:nvSpPr>
          <p:cNvPr id="236550" name="AutoShape 6"/>
          <p:cNvSpPr>
            <a:spLocks noChangeArrowheads="1"/>
          </p:cNvSpPr>
          <p:nvPr/>
        </p:nvSpPr>
        <p:spPr bwMode="auto">
          <a:xfrm>
            <a:off x="5562600" y="381000"/>
            <a:ext cx="3352800" cy="2438400"/>
          </a:xfrm>
          <a:prstGeom prst="cloudCallout">
            <a:avLst>
              <a:gd name="adj1" fmla="val -57861"/>
              <a:gd name="adj2" fmla="val 33528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b="1" dirty="0">
                <a:latin typeface="Courier New" pitchFamily="49" charset="0"/>
              </a:rPr>
              <a:t>private member variables are known only within the class.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Instantiating a </a:t>
            </a:r>
            <a:r>
              <a:rPr lang="en-US">
                <a:latin typeface="Courier New" pitchFamily="49" charset="0"/>
              </a:rPr>
              <a:t>StopWatch</a:t>
            </a:r>
          </a:p>
        </p:txBody>
      </p:sp>
      <p:sp>
        <p:nvSpPr>
          <p:cNvPr id="2426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00600"/>
          </a:xfrm>
          <a:noFill/>
          <a:ln w="38100">
            <a:solidFill>
              <a:schemeClr val="tx1"/>
            </a:solidFill>
          </a:ln>
        </p:spPr>
        <p:txBody>
          <a:bodyPr/>
          <a:lstStyle/>
          <a:p>
            <a:pPr>
              <a:buFontTx/>
              <a:buNone/>
            </a:pPr>
            <a:r>
              <a:rPr lang="en-US" sz="2200" b="1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2200" b="1">
                <a:latin typeface="Courier New" pitchFamily="49" charset="0"/>
              </a:rPr>
              <a:t> </a:t>
            </a:r>
            <a:r>
              <a:rPr lang="en-US" sz="2200" b="1">
                <a:solidFill>
                  <a:srgbClr val="333399"/>
                </a:solidFill>
                <a:latin typeface="Courier New" pitchFamily="49" charset="0"/>
              </a:rPr>
              <a:t>class</a:t>
            </a:r>
            <a:r>
              <a:rPr lang="en-US" sz="2200" b="1">
                <a:latin typeface="Courier New" pitchFamily="49" charset="0"/>
              </a:rPr>
              <a:t> StopWatchTest{</a:t>
            </a:r>
          </a:p>
          <a:p>
            <a:pPr>
              <a:buFontTx/>
              <a:buNone/>
            </a:pPr>
            <a:r>
              <a:rPr lang="en-US" sz="2200" b="1">
                <a:latin typeface="Courier New" pitchFamily="49" charset="0"/>
              </a:rPr>
              <a:t>	public static void main(String[] args){</a:t>
            </a:r>
          </a:p>
          <a:p>
            <a:pPr>
              <a:buFontTx/>
              <a:buNone/>
            </a:pPr>
            <a:r>
              <a:rPr lang="en-US" sz="2200" b="1">
                <a:latin typeface="Courier New" pitchFamily="49" charset="0"/>
              </a:rPr>
              <a:t>		StopWatch joeStopWatch=new StopWatch();</a:t>
            </a:r>
          </a:p>
          <a:p>
            <a:pPr>
              <a:buFontTx/>
              <a:buNone/>
            </a:pPr>
            <a:r>
              <a:rPr lang="en-US" sz="2200" b="1">
                <a:latin typeface="Courier New" pitchFamily="49" charset="0"/>
              </a:rPr>
              <a:t>		StopWatch janeStopWatch=new StopWatch();</a:t>
            </a:r>
          </a:p>
          <a:p>
            <a:pPr>
              <a:buFontTx/>
              <a:buNone/>
            </a:pPr>
            <a:r>
              <a:rPr lang="en-US" sz="2200" b="1">
                <a:latin typeface="Courier New" pitchFamily="49" charset="0"/>
              </a:rPr>
              <a:t>		</a:t>
            </a:r>
          </a:p>
          <a:p>
            <a:pPr>
              <a:buFontTx/>
              <a:buNone/>
            </a:pPr>
            <a:endParaRPr lang="en-US" sz="2200" b="1">
              <a:latin typeface="Courier New" pitchFamily="49" charset="0"/>
            </a:endParaRPr>
          </a:p>
          <a:p>
            <a:pPr>
              <a:buFontTx/>
              <a:buNone/>
            </a:pPr>
            <a:endParaRPr lang="en-US" sz="2200" b="1">
              <a:latin typeface="Courier New" pitchFamily="49" charset="0"/>
            </a:endParaRPr>
          </a:p>
          <a:p>
            <a:pPr>
              <a:buFontTx/>
              <a:buNone/>
            </a:pPr>
            <a:endParaRPr lang="en-US" sz="2200" b="1">
              <a:latin typeface="Courier New" pitchFamily="49" charset="0"/>
            </a:endParaRPr>
          </a:p>
          <a:p>
            <a:pPr>
              <a:buFontTx/>
              <a:buNone/>
            </a:pPr>
            <a:endParaRPr lang="en-US" sz="2200" b="1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200" b="1">
                <a:latin typeface="Courier New" pitchFamily="49" charset="0"/>
              </a:rPr>
              <a:t>	}</a:t>
            </a:r>
          </a:p>
          <a:p>
            <a:pPr>
              <a:buFontTx/>
              <a:buNone/>
            </a:pPr>
            <a:r>
              <a:rPr lang="en-US" sz="2200" b="1">
                <a:latin typeface="Courier New" pitchFamily="49" charset="0"/>
              </a:rPr>
              <a:t>}</a:t>
            </a:r>
          </a:p>
        </p:txBody>
      </p:sp>
      <p:sp>
        <p:nvSpPr>
          <p:cNvPr id="242695" name="AutoShape 7"/>
          <p:cNvSpPr>
            <a:spLocks noChangeArrowheads="1"/>
          </p:cNvSpPr>
          <p:nvPr/>
        </p:nvSpPr>
        <p:spPr bwMode="auto">
          <a:xfrm>
            <a:off x="1371600" y="2895600"/>
            <a:ext cx="2076450" cy="533400"/>
          </a:xfrm>
          <a:prstGeom prst="roundRect">
            <a:avLst>
              <a:gd name="adj" fmla="val 16667"/>
            </a:avLst>
          </a:prstGeom>
          <a:solidFill>
            <a:srgbClr val="99CCFF">
              <a:alpha val="70000"/>
            </a:srgbClr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joeStopWatch</a:t>
            </a:r>
          </a:p>
        </p:txBody>
      </p:sp>
      <p:sp>
        <p:nvSpPr>
          <p:cNvPr id="242696" name="Rectangle 8"/>
          <p:cNvSpPr>
            <a:spLocks noChangeArrowheads="1"/>
          </p:cNvSpPr>
          <p:nvPr/>
        </p:nvSpPr>
        <p:spPr bwMode="auto">
          <a:xfrm>
            <a:off x="1371600" y="3352800"/>
            <a:ext cx="3200400" cy="19812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err="1"/>
              <a:t>initialTime</a:t>
            </a:r>
            <a:r>
              <a:rPr lang="en-US" dirty="0"/>
              <a:t>: 1171418618443</a:t>
            </a:r>
          </a:p>
          <a:p>
            <a:r>
              <a:rPr lang="en-US" dirty="0" err="1"/>
              <a:t>currentTime</a:t>
            </a:r>
            <a:r>
              <a:rPr lang="en-US" dirty="0"/>
              <a:t>: 1171418621639</a:t>
            </a:r>
          </a:p>
          <a:p>
            <a:r>
              <a:rPr lang="en-US" dirty="0"/>
              <a:t>----------------------------------------</a:t>
            </a:r>
          </a:p>
          <a:p>
            <a:r>
              <a:rPr lang="en-US" dirty="0"/>
              <a:t>void reset()</a:t>
            </a:r>
          </a:p>
          <a:p>
            <a:r>
              <a:rPr lang="en-US" dirty="0"/>
              <a:t>void </a:t>
            </a:r>
            <a:r>
              <a:rPr lang="en-US" dirty="0" err="1"/>
              <a:t>startStop</a:t>
            </a:r>
            <a:r>
              <a:rPr lang="en-US" dirty="0"/>
              <a:t>()</a:t>
            </a:r>
          </a:p>
          <a:p>
            <a:r>
              <a:rPr lang="en-US" dirty="0"/>
              <a:t>String </a:t>
            </a:r>
            <a:r>
              <a:rPr lang="en-US" dirty="0" err="1"/>
              <a:t>toString</a:t>
            </a:r>
            <a:r>
              <a:rPr lang="en-US" dirty="0"/>
              <a:t>()</a:t>
            </a:r>
          </a:p>
        </p:txBody>
      </p:sp>
      <p:sp>
        <p:nvSpPr>
          <p:cNvPr id="242698" name="AutoShape 10"/>
          <p:cNvSpPr>
            <a:spLocks noChangeArrowheads="1"/>
          </p:cNvSpPr>
          <p:nvPr/>
        </p:nvSpPr>
        <p:spPr bwMode="auto">
          <a:xfrm>
            <a:off x="5181600" y="2895600"/>
            <a:ext cx="2224088" cy="533400"/>
          </a:xfrm>
          <a:prstGeom prst="roundRect">
            <a:avLst>
              <a:gd name="adj" fmla="val 16667"/>
            </a:avLst>
          </a:prstGeom>
          <a:solidFill>
            <a:srgbClr val="99CCFF">
              <a:alpha val="70000"/>
            </a:srgbClr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janeStopWatch</a:t>
            </a:r>
          </a:p>
        </p:txBody>
      </p:sp>
      <p:sp>
        <p:nvSpPr>
          <p:cNvPr id="242699" name="Rectangle 11"/>
          <p:cNvSpPr>
            <a:spLocks noChangeArrowheads="1"/>
          </p:cNvSpPr>
          <p:nvPr/>
        </p:nvSpPr>
        <p:spPr bwMode="auto">
          <a:xfrm>
            <a:off x="5181600" y="3352800"/>
            <a:ext cx="3276600" cy="19812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err="1"/>
              <a:t>initialTime</a:t>
            </a:r>
            <a:r>
              <a:rPr lang="en-US" dirty="0"/>
              <a:t>: 1171418618443</a:t>
            </a:r>
          </a:p>
          <a:p>
            <a:r>
              <a:rPr lang="en-US" dirty="0" err="1"/>
              <a:t>currentTime</a:t>
            </a:r>
            <a:r>
              <a:rPr lang="en-US" dirty="0"/>
              <a:t>: 1171418624693</a:t>
            </a:r>
          </a:p>
          <a:p>
            <a:r>
              <a:rPr lang="en-US" dirty="0"/>
              <a:t>----------------------------------------</a:t>
            </a:r>
          </a:p>
          <a:p>
            <a:r>
              <a:rPr lang="en-US" dirty="0"/>
              <a:t>void reset()</a:t>
            </a:r>
          </a:p>
          <a:p>
            <a:r>
              <a:rPr lang="en-US" dirty="0"/>
              <a:t>void </a:t>
            </a:r>
            <a:r>
              <a:rPr lang="en-US" dirty="0" err="1"/>
              <a:t>startStop</a:t>
            </a:r>
            <a:r>
              <a:rPr lang="en-US" dirty="0"/>
              <a:t>()</a:t>
            </a:r>
          </a:p>
          <a:p>
            <a:r>
              <a:rPr lang="en-US" dirty="0"/>
              <a:t>String </a:t>
            </a:r>
            <a:r>
              <a:rPr lang="en-US" dirty="0" err="1"/>
              <a:t>toString</a:t>
            </a:r>
            <a:r>
              <a:rPr lang="en-US" dirty="0"/>
              <a:t>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the </a:t>
            </a:r>
            <a:r>
              <a:rPr lang="en-US">
                <a:latin typeface="Courier New" pitchFamily="49" charset="0"/>
              </a:rPr>
              <a:t>StopWatch</a:t>
            </a:r>
          </a:p>
        </p:txBody>
      </p:sp>
      <p:sp>
        <p:nvSpPr>
          <p:cNvPr id="2406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00600"/>
          </a:xfrm>
          <a:noFill/>
          <a:ln w="38100"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>
                <a:solidFill>
                  <a:srgbClr val="333399"/>
                </a:solidFill>
                <a:latin typeface="Courier New" pitchFamily="49" charset="0"/>
              </a:rPr>
              <a:t>class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StopWatchTest</a:t>
            </a:r>
            <a:r>
              <a:rPr lang="en-US" sz="1800" b="1" dirty="0">
                <a:latin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	public static void main(String[] </a:t>
            </a:r>
            <a:r>
              <a:rPr lang="en-US" sz="1800" b="1" dirty="0" err="1">
                <a:latin typeface="Courier New" pitchFamily="49" charset="0"/>
              </a:rPr>
              <a:t>args</a:t>
            </a:r>
            <a:r>
              <a:rPr lang="en-US" sz="1800" b="1" dirty="0">
                <a:latin typeface="Courier New" pitchFamily="49" charset="0"/>
              </a:rPr>
              <a:t>){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		</a:t>
            </a:r>
            <a:r>
              <a:rPr lang="en-US" sz="1800" b="1" dirty="0" err="1">
                <a:latin typeface="Courier New" pitchFamily="49" charset="0"/>
              </a:rPr>
              <a:t>StopWatch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joeStopWatch</a:t>
            </a:r>
            <a:r>
              <a:rPr lang="en-US" sz="1800" b="1" dirty="0">
                <a:latin typeface="Courier New" pitchFamily="49" charset="0"/>
              </a:rPr>
              <a:t>=new </a:t>
            </a:r>
            <a:r>
              <a:rPr lang="en-US" sz="1800" b="1" dirty="0" err="1">
                <a:latin typeface="Courier New" pitchFamily="49" charset="0"/>
              </a:rPr>
              <a:t>StopWatch</a:t>
            </a:r>
            <a:r>
              <a:rPr lang="en-US" sz="1800" b="1" dirty="0"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		</a:t>
            </a:r>
            <a:r>
              <a:rPr lang="en-US" sz="1800" b="1" dirty="0" err="1">
                <a:latin typeface="Courier New" pitchFamily="49" charset="0"/>
              </a:rPr>
              <a:t>StopWatch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janeStopWatch</a:t>
            </a:r>
            <a:r>
              <a:rPr lang="en-US" sz="1800" b="1" dirty="0">
                <a:latin typeface="Courier New" pitchFamily="49" charset="0"/>
              </a:rPr>
              <a:t>=new </a:t>
            </a:r>
            <a:r>
              <a:rPr lang="en-US" sz="1800" b="1" dirty="0" err="1">
                <a:latin typeface="Courier New" pitchFamily="49" charset="0"/>
              </a:rPr>
              <a:t>StopWatch</a:t>
            </a:r>
            <a:r>
              <a:rPr lang="en-US" sz="1800" b="1" dirty="0"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		</a:t>
            </a:r>
            <a:r>
              <a:rPr lang="en-US" sz="1800" b="1" dirty="0" err="1">
                <a:latin typeface="Courier New" pitchFamily="49" charset="0"/>
              </a:rPr>
              <a:t>joeStopWatch.reset</a:t>
            </a:r>
            <a:r>
              <a:rPr lang="en-US" sz="1800" b="1" dirty="0"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		</a:t>
            </a:r>
            <a:r>
              <a:rPr lang="en-US" sz="1800" b="1" dirty="0" err="1">
                <a:latin typeface="Courier New" pitchFamily="49" charset="0"/>
              </a:rPr>
              <a:t>janeStopWatch.reset</a:t>
            </a:r>
            <a:r>
              <a:rPr lang="en-US" sz="1800" b="1" dirty="0"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		</a:t>
            </a:r>
            <a:r>
              <a:rPr lang="en-US" sz="1800" b="1" dirty="0" err="1">
                <a:latin typeface="Courier New" pitchFamily="49" charset="0"/>
              </a:rPr>
              <a:t>joeStopWatch.startStop</a:t>
            </a:r>
            <a:r>
              <a:rPr lang="en-US" sz="1800" b="1" dirty="0"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		</a:t>
            </a:r>
            <a:r>
              <a:rPr lang="en-US" sz="1800" b="1" dirty="0" err="1">
                <a:latin typeface="Courier New" pitchFamily="49" charset="0"/>
              </a:rPr>
              <a:t>janeStopWatch.startStop</a:t>
            </a:r>
            <a:r>
              <a:rPr lang="en-US" sz="1800" b="1" dirty="0"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		</a:t>
            </a:r>
            <a:r>
              <a:rPr lang="en-US" sz="1800" b="1" dirty="0" err="1">
                <a:latin typeface="Courier New" pitchFamily="49" charset="0"/>
              </a:rPr>
              <a:t>System.out.println</a:t>
            </a:r>
            <a:r>
              <a:rPr lang="en-US" sz="1800" b="1" dirty="0">
                <a:latin typeface="Courier New" pitchFamily="49" charset="0"/>
              </a:rPr>
              <a:t>(“Stop watch started”);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		for(long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=0;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 &lt; 1000000000;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++);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		</a:t>
            </a:r>
            <a:r>
              <a:rPr lang="en-US" sz="1800" b="1" dirty="0" err="1">
                <a:latin typeface="Courier New" pitchFamily="49" charset="0"/>
              </a:rPr>
              <a:t>janeStopWatch.startStop</a:t>
            </a:r>
            <a:r>
              <a:rPr lang="en-US" sz="1800" b="1" dirty="0"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		for(long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=0;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 &lt; 1000000000;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++);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		</a:t>
            </a:r>
            <a:r>
              <a:rPr lang="en-US" sz="1800" b="1" dirty="0" err="1">
                <a:latin typeface="Courier New" pitchFamily="49" charset="0"/>
              </a:rPr>
              <a:t>joeStopWatch.startStop</a:t>
            </a:r>
            <a:r>
              <a:rPr lang="en-US" sz="1800" b="1" dirty="0"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		</a:t>
            </a:r>
            <a:r>
              <a:rPr lang="en-US" sz="1800" b="1" dirty="0" err="1">
                <a:latin typeface="Courier New" pitchFamily="49" charset="0"/>
              </a:rPr>
              <a:t>System.out.println</a:t>
            </a:r>
            <a:r>
              <a:rPr lang="en-US" sz="1800" b="1" dirty="0">
                <a:latin typeface="Courier New" pitchFamily="49" charset="0"/>
              </a:rPr>
              <a:t>(</a:t>
            </a:r>
            <a:r>
              <a:rPr lang="en-US" sz="1800" b="1" dirty="0" err="1">
                <a:latin typeface="Courier New" pitchFamily="49" charset="0"/>
              </a:rPr>
              <a:t>janeStopWatch</a:t>
            </a:r>
            <a:r>
              <a:rPr lang="en-US" sz="18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		</a:t>
            </a:r>
            <a:r>
              <a:rPr lang="en-US" sz="1800" b="1" dirty="0" err="1">
                <a:latin typeface="Courier New" pitchFamily="49" charset="0"/>
              </a:rPr>
              <a:t>System.out.println</a:t>
            </a:r>
            <a:r>
              <a:rPr lang="en-US" sz="1800" b="1" dirty="0">
                <a:latin typeface="Courier New" pitchFamily="49" charset="0"/>
              </a:rPr>
              <a:t>(</a:t>
            </a:r>
            <a:r>
              <a:rPr lang="en-US" sz="1800" b="1" dirty="0" err="1">
                <a:latin typeface="Courier New" pitchFamily="49" charset="0"/>
              </a:rPr>
              <a:t>joeStopWatch</a:t>
            </a:r>
            <a:r>
              <a:rPr lang="en-US" sz="18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	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0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0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0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0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0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0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0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0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0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0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0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0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06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06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06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06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06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06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06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06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06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06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06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06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064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064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That Return a Value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Our </a:t>
            </a:r>
            <a:r>
              <a:rPr lang="en-US" b="1" dirty="0" err="1">
                <a:latin typeface="Courier New" pitchFamily="49" charset="0"/>
              </a:rPr>
              <a:t>toString</a:t>
            </a:r>
            <a:r>
              <a:rPr lang="en-US" b="1" dirty="0">
                <a:latin typeface="Courier New" pitchFamily="49" charset="0"/>
              </a:rPr>
              <a:t>()</a:t>
            </a:r>
            <a:r>
              <a:rPr lang="en-US" dirty="0"/>
              <a:t> method in </a:t>
            </a:r>
            <a:r>
              <a:rPr lang="en-US" b="1" dirty="0" err="1">
                <a:latin typeface="Courier New" pitchFamily="49" charset="0"/>
              </a:rPr>
              <a:t>StopWatch</a:t>
            </a:r>
            <a:r>
              <a:rPr lang="en-US" dirty="0"/>
              <a:t> always returns a string representation of the </a:t>
            </a:r>
            <a:r>
              <a:rPr lang="en-US" b="1" dirty="0" err="1">
                <a:latin typeface="Courier New" pitchFamily="49" charset="0"/>
              </a:rPr>
              <a:t>StopWatch</a:t>
            </a:r>
            <a:r>
              <a:rPr lang="en-US" dirty="0"/>
              <a:t> object.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We really need to provide </a:t>
            </a:r>
            <a:r>
              <a:rPr lang="en-US" i="1" dirty="0"/>
              <a:t>accessor</a:t>
            </a:r>
            <a:r>
              <a:rPr lang="en-US" dirty="0"/>
              <a:t> methods that give us controlled access to the private instance variables.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We could provide a method that returns the elapsed time in milliseconds so that we can format it any way we want.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Accessor methods are made </a:t>
            </a:r>
            <a:r>
              <a:rPr lang="en-US" b="1" dirty="0">
                <a:latin typeface="Courier New" pitchFamily="49" charset="0"/>
              </a:rPr>
              <a:t>public</a:t>
            </a:r>
            <a:r>
              <a:rPr lang="en-US" dirty="0"/>
              <a:t> so that any client can call use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Defining the </a:t>
            </a:r>
            <a:r>
              <a:rPr lang="en-US">
                <a:latin typeface="Courier New" pitchFamily="49" charset="0"/>
              </a:rPr>
              <a:t>StopWatch</a:t>
            </a:r>
            <a:r>
              <a:rPr lang="en-US"/>
              <a:t> Class …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00600"/>
          </a:xfrm>
          <a:noFill/>
          <a:ln w="38100">
            <a:solidFill>
              <a:schemeClr val="tx1"/>
            </a:solidFill>
          </a:ln>
        </p:spPr>
        <p:txBody>
          <a:bodyPr/>
          <a:lstStyle/>
          <a:p>
            <a:pPr>
              <a:buFontTx/>
              <a:buNone/>
            </a:pP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class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</a:rPr>
              <a:t>StopWatch</a:t>
            </a:r>
            <a:endParaRPr lang="en-US" sz="2400" b="1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private</a:t>
            </a:r>
            <a:r>
              <a:rPr lang="en-US" sz="2400" b="1" dirty="0">
                <a:latin typeface="Courier New" pitchFamily="49" charset="0"/>
              </a:rPr>
              <a:t> long </a:t>
            </a:r>
            <a:r>
              <a:rPr lang="en-US" sz="2400" b="1" dirty="0" err="1">
                <a:latin typeface="Courier New" pitchFamily="49" charset="0"/>
              </a:rPr>
              <a:t>initialTime</a:t>
            </a:r>
            <a:r>
              <a:rPr lang="en-US" sz="2400" b="1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private</a:t>
            </a:r>
            <a:r>
              <a:rPr lang="en-US" sz="2400" b="1" dirty="0">
                <a:latin typeface="Courier New" pitchFamily="49" charset="0"/>
              </a:rPr>
              <a:t> long </a:t>
            </a:r>
            <a:r>
              <a:rPr lang="en-US" sz="2400" b="1" dirty="0" err="1">
                <a:latin typeface="Courier New" pitchFamily="49" charset="0"/>
              </a:rPr>
              <a:t>currentTime</a:t>
            </a:r>
            <a:r>
              <a:rPr lang="en-US" sz="2400" b="1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void</a:t>
            </a:r>
            <a:r>
              <a:rPr lang="en-US" sz="2400" b="1" dirty="0">
                <a:latin typeface="Courier New" pitchFamily="49" charset="0"/>
              </a:rPr>
              <a:t> reset(){ . . . }</a:t>
            </a: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void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</a:rPr>
              <a:t>startStop</a:t>
            </a:r>
            <a:r>
              <a:rPr lang="en-US" sz="2400" b="1" dirty="0">
                <a:latin typeface="Courier New" pitchFamily="49" charset="0"/>
              </a:rPr>
              <a:t>()	{ . . . }</a:t>
            </a: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String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</a:rPr>
              <a:t>toString</a:t>
            </a:r>
            <a:r>
              <a:rPr lang="en-US" sz="2400" b="1" dirty="0">
                <a:latin typeface="Courier New" pitchFamily="49" charset="0"/>
              </a:rPr>
              <a:t>(){ . . . }</a:t>
            </a:r>
          </a:p>
          <a:p>
            <a:pPr>
              <a:buFontTx/>
              <a:buNone/>
            </a:pP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	public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long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</a:rPr>
              <a:t>elapsedTime</a:t>
            </a:r>
            <a:r>
              <a:rPr lang="en-US" sz="2400" b="1" dirty="0">
                <a:latin typeface="Courier New" pitchFamily="49" charset="0"/>
              </a:rPr>
              <a:t>()</a:t>
            </a: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	{ . . . }</a:t>
            </a: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}</a:t>
            </a:r>
          </a:p>
        </p:txBody>
      </p:sp>
      <p:sp>
        <p:nvSpPr>
          <p:cNvPr id="246789" name="AutoShape 5"/>
          <p:cNvSpPr>
            <a:spLocks noChangeArrowheads="1"/>
          </p:cNvSpPr>
          <p:nvPr/>
        </p:nvSpPr>
        <p:spPr bwMode="auto">
          <a:xfrm>
            <a:off x="3276600" y="2362200"/>
            <a:ext cx="5486400" cy="1600200"/>
          </a:xfrm>
          <a:prstGeom prst="cloudCallout">
            <a:avLst>
              <a:gd name="adj1" fmla="val -10907"/>
              <a:gd name="adj2" fmla="val 71926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b="1">
                <a:latin typeface="Courier New" pitchFamily="49" charset="0"/>
              </a:rPr>
              <a:t>elapsedTimeInMillis() returns the elapsed time in milliseconds!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6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Mutator and Accessor Methods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Methods that change the state of an object after being invoked are called </a:t>
            </a:r>
            <a:r>
              <a:rPr lang="en-US" i="1" dirty="0" err="1"/>
              <a:t>mutator</a:t>
            </a:r>
            <a:r>
              <a:rPr lang="en-US" dirty="0"/>
              <a:t> methods.</a:t>
            </a:r>
          </a:p>
          <a:p>
            <a:pPr lvl="1"/>
            <a:r>
              <a:rPr lang="en-US" dirty="0"/>
              <a:t>Obvious – they mutate the state of the object.</a:t>
            </a:r>
          </a:p>
          <a:p>
            <a:r>
              <a:rPr lang="en-US" dirty="0"/>
              <a:t>Methods that only return information and do not change the state of an object after being invoked are called </a:t>
            </a:r>
            <a:r>
              <a:rPr lang="en-US" i="1" dirty="0"/>
              <a:t>accessor</a:t>
            </a:r>
            <a:r>
              <a:rPr lang="en-US" dirty="0"/>
              <a:t> methods.</a:t>
            </a:r>
          </a:p>
          <a:p>
            <a:r>
              <a:rPr lang="en-US" dirty="0"/>
              <a:t>In the </a:t>
            </a:r>
            <a:r>
              <a:rPr lang="en-US" b="1" dirty="0" err="1">
                <a:latin typeface="Courier New" pitchFamily="49" charset="0"/>
              </a:rPr>
              <a:t>StopWatch</a:t>
            </a:r>
            <a:r>
              <a:rPr lang="en-US" dirty="0"/>
              <a:t> class</a:t>
            </a:r>
          </a:p>
          <a:p>
            <a:pPr lvl="1"/>
            <a:r>
              <a:rPr lang="en-US" b="1" dirty="0">
                <a:latin typeface="Courier New" pitchFamily="49" charset="0"/>
              </a:rPr>
              <a:t>reset()</a:t>
            </a:r>
            <a:r>
              <a:rPr lang="en-US" dirty="0"/>
              <a:t> and </a:t>
            </a:r>
            <a:r>
              <a:rPr lang="en-US" b="1" dirty="0" err="1">
                <a:latin typeface="Courier New" pitchFamily="49" charset="0"/>
              </a:rPr>
              <a:t>startStop</a:t>
            </a:r>
            <a:r>
              <a:rPr lang="en-US" b="1" dirty="0">
                <a:latin typeface="Courier New" pitchFamily="49" charset="0"/>
              </a:rPr>
              <a:t>()</a:t>
            </a:r>
            <a:r>
              <a:rPr lang="en-US" dirty="0"/>
              <a:t> are </a:t>
            </a:r>
            <a:r>
              <a:rPr lang="en-US" dirty="0" err="1"/>
              <a:t>mutator</a:t>
            </a:r>
            <a:r>
              <a:rPr lang="en-US" dirty="0"/>
              <a:t> methods.</a:t>
            </a:r>
          </a:p>
          <a:p>
            <a:pPr lvl="1"/>
            <a:r>
              <a:rPr lang="en-US" b="1" dirty="0" err="1">
                <a:latin typeface="Courier New" pitchFamily="49" charset="0"/>
              </a:rPr>
              <a:t>elapsedTime</a:t>
            </a:r>
            <a:r>
              <a:rPr lang="en-US" b="1" dirty="0">
                <a:latin typeface="Courier New" pitchFamily="49" charset="0"/>
              </a:rPr>
              <a:t>()</a:t>
            </a:r>
            <a:r>
              <a:rPr lang="en-US" dirty="0"/>
              <a:t> and </a:t>
            </a:r>
            <a:r>
              <a:rPr lang="en-US" b="1" dirty="0" err="1">
                <a:latin typeface="Courier New" pitchFamily="49" charset="0"/>
              </a:rPr>
              <a:t>toString</a:t>
            </a:r>
            <a:r>
              <a:rPr lang="en-US" b="1" dirty="0">
                <a:latin typeface="Courier New" pitchFamily="49" charset="0"/>
              </a:rPr>
              <a:t>()</a:t>
            </a:r>
            <a:r>
              <a:rPr lang="en-US" dirty="0"/>
              <a:t> are </a:t>
            </a:r>
            <a:r>
              <a:rPr lang="en-US" i="1" dirty="0"/>
              <a:t>accessor</a:t>
            </a:r>
            <a:r>
              <a:rPr lang="en-US" dirty="0"/>
              <a:t> methods.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the </a:t>
            </a:r>
            <a:r>
              <a:rPr lang="en-US">
                <a:latin typeface="Courier New" pitchFamily="49" charset="0"/>
              </a:rPr>
              <a:t>StopWatch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00600"/>
          </a:xfrm>
          <a:noFill/>
          <a:ln w="38100"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200" b="1" dirty="0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2200" b="1" dirty="0">
                <a:latin typeface="Courier New" pitchFamily="49" charset="0"/>
              </a:rPr>
              <a:t> </a:t>
            </a:r>
            <a:r>
              <a:rPr lang="en-US" sz="2200" b="1" dirty="0">
                <a:solidFill>
                  <a:srgbClr val="333399"/>
                </a:solidFill>
                <a:latin typeface="Courier New" pitchFamily="49" charset="0"/>
              </a:rPr>
              <a:t>class</a:t>
            </a:r>
            <a:r>
              <a:rPr lang="en-US" sz="2200" b="1" dirty="0">
                <a:latin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</a:rPr>
              <a:t>StopWatchTest</a:t>
            </a:r>
            <a:r>
              <a:rPr lang="en-US" sz="2200" b="1" dirty="0">
                <a:latin typeface="Courier New" pitchFamily="49" charset="0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200" b="1" dirty="0">
                <a:latin typeface="Courier New" pitchFamily="49" charset="0"/>
              </a:rPr>
              <a:t>	public static void main(String[] </a:t>
            </a:r>
            <a:r>
              <a:rPr lang="en-US" sz="2200" b="1" dirty="0" err="1">
                <a:latin typeface="Courier New" pitchFamily="49" charset="0"/>
              </a:rPr>
              <a:t>args</a:t>
            </a:r>
            <a:r>
              <a:rPr lang="en-US" sz="2200" b="1" dirty="0">
                <a:latin typeface="Courier New" pitchFamily="49" charset="0"/>
              </a:rPr>
              <a:t>){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200" b="1" dirty="0">
                <a:latin typeface="Courier New" pitchFamily="49" charset="0"/>
              </a:rPr>
              <a:t>		</a:t>
            </a:r>
            <a:r>
              <a:rPr lang="en-US" sz="2200" b="1" dirty="0" err="1">
                <a:latin typeface="Courier New" pitchFamily="49" charset="0"/>
              </a:rPr>
              <a:t>StopWatch</a:t>
            </a:r>
            <a:r>
              <a:rPr lang="en-US" sz="2200" b="1" dirty="0">
                <a:latin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</a:rPr>
              <a:t>myStopWatch</a:t>
            </a:r>
            <a:r>
              <a:rPr lang="en-US" sz="2200" b="1" dirty="0">
                <a:latin typeface="Courier New" pitchFamily="49" charset="0"/>
              </a:rPr>
              <a:t>=new </a:t>
            </a:r>
            <a:r>
              <a:rPr lang="en-US" sz="2200" b="1" dirty="0" err="1">
                <a:latin typeface="Courier New" pitchFamily="49" charset="0"/>
              </a:rPr>
              <a:t>StopWatch</a:t>
            </a:r>
            <a:r>
              <a:rPr lang="en-US" sz="2200" b="1" dirty="0">
                <a:latin typeface="Courier New" pitchFamily="49" charset="0"/>
              </a:rPr>
              <a:t>();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200" b="1" dirty="0">
                <a:latin typeface="Courier New" pitchFamily="49" charset="0"/>
              </a:rPr>
              <a:t>		</a:t>
            </a:r>
            <a:r>
              <a:rPr lang="en-US" sz="2200" b="1" dirty="0" err="1">
                <a:latin typeface="Courier New" pitchFamily="49" charset="0"/>
              </a:rPr>
              <a:t>myStopWatch.reset</a:t>
            </a:r>
            <a:r>
              <a:rPr lang="en-US" sz="2200" b="1" dirty="0">
                <a:latin typeface="Courier New" pitchFamily="49" charset="0"/>
              </a:rPr>
              <a:t>();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200" b="1" dirty="0">
                <a:latin typeface="Courier New" pitchFamily="49" charset="0"/>
              </a:rPr>
              <a:t>		</a:t>
            </a:r>
            <a:r>
              <a:rPr lang="en-US" sz="2200" b="1" dirty="0" err="1">
                <a:latin typeface="Courier New" pitchFamily="49" charset="0"/>
              </a:rPr>
              <a:t>myStopWatch.startStop</a:t>
            </a:r>
            <a:r>
              <a:rPr lang="en-US" sz="2200" b="1" dirty="0">
                <a:latin typeface="Courier New" pitchFamily="49" charset="0"/>
              </a:rPr>
              <a:t>();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200" b="1" dirty="0">
                <a:latin typeface="Courier New" pitchFamily="49" charset="0"/>
              </a:rPr>
              <a:t>		</a:t>
            </a:r>
            <a:r>
              <a:rPr lang="en-US" sz="2200" b="1" dirty="0" err="1">
                <a:latin typeface="Courier New" pitchFamily="49" charset="0"/>
              </a:rPr>
              <a:t>System.out.println</a:t>
            </a:r>
            <a:r>
              <a:rPr lang="en-US" sz="2200" b="1" dirty="0">
                <a:latin typeface="Courier New" pitchFamily="49" charset="0"/>
              </a:rPr>
              <a:t>("Stop watch started");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200" b="1" dirty="0">
                <a:latin typeface="Courier New" pitchFamily="49" charset="0"/>
              </a:rPr>
              <a:t>		for(long </a:t>
            </a:r>
            <a:r>
              <a:rPr lang="en-US" sz="2200" b="1" dirty="0" err="1">
                <a:latin typeface="Courier New" pitchFamily="49" charset="0"/>
              </a:rPr>
              <a:t>i</a:t>
            </a:r>
            <a:r>
              <a:rPr lang="en-US" sz="2200" b="1" dirty="0">
                <a:latin typeface="Courier New" pitchFamily="49" charset="0"/>
              </a:rPr>
              <a:t>=0; </a:t>
            </a:r>
            <a:r>
              <a:rPr lang="en-US" sz="2200" b="1" dirty="0" err="1">
                <a:latin typeface="Courier New" pitchFamily="49" charset="0"/>
              </a:rPr>
              <a:t>i</a:t>
            </a:r>
            <a:r>
              <a:rPr lang="en-US" sz="2200" b="1" dirty="0">
                <a:latin typeface="Courier New" pitchFamily="49" charset="0"/>
              </a:rPr>
              <a:t> &lt; 1000000000; </a:t>
            </a:r>
            <a:r>
              <a:rPr lang="en-US" sz="2200" b="1" dirty="0" err="1">
                <a:latin typeface="Courier New" pitchFamily="49" charset="0"/>
              </a:rPr>
              <a:t>i</a:t>
            </a:r>
            <a:r>
              <a:rPr lang="en-US" sz="2200" b="1" dirty="0">
                <a:latin typeface="Courier New" pitchFamily="49" charset="0"/>
              </a:rPr>
              <a:t>++);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200" b="1" dirty="0">
                <a:latin typeface="Courier New" pitchFamily="49" charset="0"/>
              </a:rPr>
              <a:t>		</a:t>
            </a:r>
            <a:r>
              <a:rPr lang="en-US" sz="2200" b="1" dirty="0" err="1">
                <a:latin typeface="Courier New" pitchFamily="49" charset="0"/>
              </a:rPr>
              <a:t>myStopWatch.startStop</a:t>
            </a:r>
            <a:r>
              <a:rPr lang="en-US" sz="2200" b="1" dirty="0">
                <a:latin typeface="Courier New" pitchFamily="49" charset="0"/>
              </a:rPr>
              <a:t>();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200" b="1" dirty="0">
                <a:latin typeface="Courier New" pitchFamily="49" charset="0"/>
              </a:rPr>
              <a:t>		</a:t>
            </a:r>
            <a:r>
              <a:rPr lang="en-US" sz="2200" b="1" dirty="0" err="1">
                <a:latin typeface="Courier New" pitchFamily="49" charset="0"/>
              </a:rPr>
              <a:t>System.out.println</a:t>
            </a:r>
            <a:r>
              <a:rPr lang="en-US" sz="2200" b="1" dirty="0">
                <a:latin typeface="Courier New" pitchFamily="49" charset="0"/>
              </a:rPr>
              <a:t>(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200" b="1" dirty="0">
                <a:latin typeface="Courier New" pitchFamily="49" charset="0"/>
              </a:rPr>
              <a:t>			</a:t>
            </a:r>
            <a:r>
              <a:rPr lang="en-US" sz="2200" b="1" dirty="0" err="1">
                <a:latin typeface="Courier New" pitchFamily="49" charset="0"/>
              </a:rPr>
              <a:t>myStopWatch.elapsedTime</a:t>
            </a:r>
            <a:r>
              <a:rPr lang="en-US" sz="2200" b="1" dirty="0">
                <a:latin typeface="Courier New" pitchFamily="49" charset="0"/>
              </a:rPr>
              <a:t>()*1e-3);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200" b="1" dirty="0">
                <a:latin typeface="Courier New" pitchFamily="49" charset="0"/>
              </a:rPr>
              <a:t>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200" b="1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0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0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0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0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0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0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0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0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0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0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0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0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</a:t>
            </a:r>
            <a:r>
              <a:rPr lang="en-US">
                <a:latin typeface="Courier New" pitchFamily="49" charset="0"/>
              </a:rPr>
              <a:t>StopWatch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When a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StopWatch</a:t>
            </a:r>
            <a:r>
              <a:rPr lang="en-US" dirty="0"/>
              <a:t> object is created, it should be in reset mode.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That is, if we operate on the object with output(), it should display 0s.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Once the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startStop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method is invoked on the </a:t>
            </a:r>
            <a:r>
              <a:rPr lang="en-US" dirty="0" err="1"/>
              <a:t>StopWatch</a:t>
            </a:r>
            <a:r>
              <a:rPr lang="en-US" dirty="0"/>
              <a:t> object, the object should “begin counting”.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Subsequent invocations of the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startStop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/>
              <a:t>) method should result in setting the elapsed time.  </a:t>
            </a:r>
            <a:r>
              <a:rPr lang="en-US" i="1" dirty="0"/>
              <a:t>Note that the object continues to count</a:t>
            </a:r>
            <a:r>
              <a:rPr lang="en-US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reset()</a:t>
            </a:r>
            <a:r>
              <a:rPr lang="en-US" dirty="0"/>
              <a:t> invocation sets the elapsed time back to 0 and places the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StopWatch</a:t>
            </a:r>
            <a:r>
              <a:rPr lang="en-US" dirty="0"/>
              <a:t> object back in the reset state.</a:t>
            </a:r>
          </a:p>
        </p:txBody>
      </p:sp>
      <p:sp>
        <p:nvSpPr>
          <p:cNvPr id="2" name="Rectangle 1"/>
          <p:cNvSpPr/>
          <p:nvPr/>
        </p:nvSpPr>
        <p:spPr>
          <a:xfrm>
            <a:off x="4410738" y="324433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urier New" pitchFamily="49" charset="0"/>
              </a:rPr>
              <a:t>"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410738" y="324433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urier New" pitchFamily="49" charset="0"/>
              </a:rPr>
              <a:t>"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52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252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" dur="indefinite"/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252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252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252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1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252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</a:t>
            </a:r>
            <a:r>
              <a:rPr lang="en-US">
                <a:latin typeface="Courier New" pitchFamily="49" charset="0"/>
              </a:rPr>
              <a:t>StopWatch</a:t>
            </a:r>
          </a:p>
        </p:txBody>
      </p:sp>
      <p:sp>
        <p:nvSpPr>
          <p:cNvPr id="257027" name="Oval 3"/>
          <p:cNvSpPr>
            <a:spLocks noChangeArrowheads="1"/>
          </p:cNvSpPr>
          <p:nvPr/>
        </p:nvSpPr>
        <p:spPr bwMode="auto">
          <a:xfrm>
            <a:off x="1600200" y="2971800"/>
            <a:ext cx="1295400" cy="1295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i="0">
                <a:latin typeface="Times New Roman" pitchFamily="18" charset="0"/>
              </a:rPr>
              <a:t>reset</a:t>
            </a:r>
          </a:p>
        </p:txBody>
      </p:sp>
      <p:sp>
        <p:nvSpPr>
          <p:cNvPr id="257030" name="Line 6"/>
          <p:cNvSpPr>
            <a:spLocks noChangeShapeType="1"/>
          </p:cNvSpPr>
          <p:nvPr/>
        </p:nvSpPr>
        <p:spPr bwMode="auto">
          <a:xfrm>
            <a:off x="914400" y="3581400"/>
            <a:ext cx="609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7041" name="Oval 17"/>
          <p:cNvSpPr>
            <a:spLocks noChangeArrowheads="1"/>
          </p:cNvSpPr>
          <p:nvPr/>
        </p:nvSpPr>
        <p:spPr bwMode="auto">
          <a:xfrm>
            <a:off x="5029200" y="2819400"/>
            <a:ext cx="1295400" cy="1295400"/>
          </a:xfrm>
          <a:prstGeom prst="ellipse">
            <a:avLst/>
          </a:prstGeom>
          <a:solidFill>
            <a:srgbClr val="00FF00">
              <a:alpha val="31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i="0">
                <a:latin typeface="Times New Roman" pitchFamily="18" charset="0"/>
              </a:rPr>
              <a:t>start/stop</a:t>
            </a:r>
          </a:p>
        </p:txBody>
      </p:sp>
      <p:cxnSp>
        <p:nvCxnSpPr>
          <p:cNvPr id="257042" name="AutoShape 18"/>
          <p:cNvCxnSpPr>
            <a:cxnSpLocks noChangeShapeType="1"/>
            <a:stCxn id="257027" idx="7"/>
            <a:endCxn id="257041" idx="1"/>
          </p:cNvCxnSpPr>
          <p:nvPr/>
        </p:nvCxnSpPr>
        <p:spPr bwMode="auto">
          <a:xfrm rot="16200000">
            <a:off x="3886201" y="1809750"/>
            <a:ext cx="152400" cy="2511425"/>
          </a:xfrm>
          <a:prstGeom prst="curvedConnector3">
            <a:avLst>
              <a:gd name="adj1" fmla="val 361458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sp>
        <p:nvSpPr>
          <p:cNvPr id="257043" name="Text Box 19"/>
          <p:cNvSpPr txBox="1">
            <a:spLocks noChangeArrowheads="1"/>
          </p:cNvSpPr>
          <p:nvPr/>
        </p:nvSpPr>
        <p:spPr bwMode="auto">
          <a:xfrm>
            <a:off x="2895600" y="2241167"/>
            <a:ext cx="20050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 err="1">
                <a:latin typeface="Courier New" pitchFamily="49" charset="0"/>
              </a:rPr>
              <a:t>startStop</a:t>
            </a:r>
            <a:r>
              <a:rPr lang="en-US" sz="1400" b="1" i="0" dirty="0">
                <a:latin typeface="Courier New" pitchFamily="49" charset="0"/>
              </a:rPr>
              <a:t>()</a:t>
            </a:r>
            <a:r>
              <a:rPr lang="en-US" sz="1400" b="1" i="0" dirty="0"/>
              <a:t> </a:t>
            </a:r>
            <a:r>
              <a:rPr lang="en-US" sz="1400" b="1" i="0" dirty="0">
                <a:latin typeface="Times New Roman" pitchFamily="18" charset="0"/>
              </a:rPr>
              <a:t>invoked</a:t>
            </a:r>
          </a:p>
        </p:txBody>
      </p:sp>
      <p:cxnSp>
        <p:nvCxnSpPr>
          <p:cNvPr id="257044" name="AutoShape 20"/>
          <p:cNvCxnSpPr>
            <a:cxnSpLocks noChangeShapeType="1"/>
            <a:stCxn id="257041" idx="3"/>
            <a:endCxn id="257027" idx="5"/>
          </p:cNvCxnSpPr>
          <p:nvPr/>
        </p:nvCxnSpPr>
        <p:spPr bwMode="auto">
          <a:xfrm rot="5400000">
            <a:off x="3886201" y="2765425"/>
            <a:ext cx="152400" cy="2511425"/>
          </a:xfrm>
          <a:prstGeom prst="curvedConnector3">
            <a:avLst>
              <a:gd name="adj1" fmla="val 361458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sp>
        <p:nvSpPr>
          <p:cNvPr id="257045" name="Text Box 21"/>
          <p:cNvSpPr txBox="1">
            <a:spLocks noChangeArrowheads="1"/>
          </p:cNvSpPr>
          <p:nvPr/>
        </p:nvSpPr>
        <p:spPr bwMode="auto">
          <a:xfrm>
            <a:off x="3200400" y="4114800"/>
            <a:ext cx="1579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>
                <a:latin typeface="Courier New" pitchFamily="49" charset="0"/>
              </a:rPr>
              <a:t>reset()</a:t>
            </a:r>
            <a:r>
              <a:rPr lang="en-US" sz="1400" b="1" i="0"/>
              <a:t> </a:t>
            </a:r>
            <a:r>
              <a:rPr lang="en-US" sz="1400" b="1" i="0">
                <a:latin typeface="Times New Roman" pitchFamily="18" charset="0"/>
              </a:rPr>
              <a:t>invoked</a:t>
            </a:r>
          </a:p>
        </p:txBody>
      </p:sp>
      <p:cxnSp>
        <p:nvCxnSpPr>
          <p:cNvPr id="23" name="AutoShape 18"/>
          <p:cNvCxnSpPr>
            <a:cxnSpLocks noChangeShapeType="1"/>
            <a:stCxn id="257041" idx="7"/>
            <a:endCxn id="257041" idx="5"/>
          </p:cNvCxnSpPr>
          <p:nvPr/>
        </p:nvCxnSpPr>
        <p:spPr bwMode="auto">
          <a:xfrm rot="16200000" flipH="1">
            <a:off x="5676900" y="3467100"/>
            <a:ext cx="915986" cy="12700"/>
          </a:xfrm>
          <a:prstGeom prst="curvedConnector5">
            <a:avLst>
              <a:gd name="adj1" fmla="val -24957"/>
              <a:gd name="adj2" fmla="val 10506244"/>
              <a:gd name="adj3" fmla="val 124957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lg" len="med"/>
          </a:ln>
          <a:effectLst/>
        </p:spPr>
      </p:cxnSp>
      <p:sp>
        <p:nvSpPr>
          <p:cNvPr id="26" name="Text Box 19"/>
          <p:cNvSpPr txBox="1">
            <a:spLocks noChangeArrowheads="1"/>
          </p:cNvSpPr>
          <p:nvPr/>
        </p:nvSpPr>
        <p:spPr bwMode="auto">
          <a:xfrm rot="5400000">
            <a:off x="6846094" y="3288002"/>
            <a:ext cx="20050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i="0" dirty="0" err="1">
                <a:latin typeface="Courier New" pitchFamily="49" charset="0"/>
              </a:rPr>
              <a:t>startStop</a:t>
            </a:r>
            <a:r>
              <a:rPr lang="en-US" sz="1400" b="1" i="0" dirty="0">
                <a:latin typeface="Courier New" pitchFamily="49" charset="0"/>
              </a:rPr>
              <a:t>()</a:t>
            </a:r>
            <a:r>
              <a:rPr lang="en-US" sz="1400" b="1" i="0" dirty="0"/>
              <a:t> </a:t>
            </a:r>
            <a:r>
              <a:rPr lang="en-US" sz="1400" b="1" i="0" dirty="0">
                <a:latin typeface="Times New Roman" pitchFamily="18" charset="0"/>
              </a:rPr>
              <a:t>invoked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4FA8FC-0BCC-93F8-FF61-1046E875CD8B}"/>
              </a:ext>
            </a:extLst>
          </p:cNvPr>
          <p:cNvSpPr txBox="1"/>
          <p:nvPr/>
        </p:nvSpPr>
        <p:spPr>
          <a:xfrm>
            <a:off x="2996844" y="2710190"/>
            <a:ext cx="2010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</a:p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9B5F7E-6E6D-2C55-C798-5A63DA33246B}"/>
              </a:ext>
            </a:extLst>
          </p:cNvPr>
          <p:cNvSpPr txBox="1"/>
          <p:nvPr/>
        </p:nvSpPr>
        <p:spPr>
          <a:xfrm>
            <a:off x="2957157" y="4547255"/>
            <a:ext cx="2010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CC9F92-9582-8B72-46AF-AD5FEF55EDA9}"/>
              </a:ext>
            </a:extLst>
          </p:cNvPr>
          <p:cNvSpPr txBox="1"/>
          <p:nvPr/>
        </p:nvSpPr>
        <p:spPr>
          <a:xfrm rot="5400000">
            <a:off x="6613268" y="3313211"/>
            <a:ext cx="2010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{get </a:t>
            </a:r>
            <a:r>
              <a:rPr lang="en-US" sz="1400" b="1" i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currentTime</a:t>
            </a:r>
            <a:r>
              <a:rPr lang="en-US" sz="1400" b="1" i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9751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9" name="AutoShape 7"/>
          <p:cNvSpPr>
            <a:spLocks noChangeArrowheads="1"/>
          </p:cNvSpPr>
          <p:nvPr/>
        </p:nvSpPr>
        <p:spPr bwMode="auto">
          <a:xfrm>
            <a:off x="685800" y="3352800"/>
            <a:ext cx="7086600" cy="2209800"/>
          </a:xfrm>
          <a:prstGeom prst="roundRect">
            <a:avLst>
              <a:gd name="adj" fmla="val 16667"/>
            </a:avLst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907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00600"/>
          </a:xfrm>
          <a:noFill/>
          <a:ln w="38100">
            <a:solidFill>
              <a:schemeClr val="tx1"/>
            </a:solidFill>
          </a:ln>
        </p:spPr>
        <p:txBody>
          <a:bodyPr/>
          <a:lstStyle/>
          <a:p>
            <a:pPr>
              <a:buFontTx/>
              <a:buNone/>
            </a:pP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2400" b="1">
                <a:latin typeface="Courier New" pitchFamily="49" charset="0"/>
              </a:rPr>
              <a:t> 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class</a:t>
            </a:r>
            <a:r>
              <a:rPr lang="en-US" sz="2400" b="1">
                <a:latin typeface="Courier New" pitchFamily="49" charset="0"/>
              </a:rPr>
              <a:t> StopWatch</a:t>
            </a:r>
          </a:p>
          <a:p>
            <a:pPr>
              <a:buFontTx/>
              <a:buNone/>
            </a:pPr>
            <a:r>
              <a:rPr lang="en-US" sz="2400" b="1">
                <a:latin typeface="Courier New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sz="2400" b="1">
                <a:latin typeface="Courier New" pitchFamily="49" charset="0"/>
              </a:rPr>
              <a:t>	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private</a:t>
            </a:r>
            <a:r>
              <a:rPr lang="en-US" sz="2400" b="1">
                <a:latin typeface="Courier New" pitchFamily="49" charset="0"/>
              </a:rPr>
              <a:t> 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boolean</a:t>
            </a:r>
            <a:r>
              <a:rPr lang="en-US" sz="2400" b="1">
                <a:latin typeface="Courier New" pitchFamily="49" charset="0"/>
              </a:rPr>
              <a:t> isInReset;</a:t>
            </a:r>
          </a:p>
          <a:p>
            <a:pPr>
              <a:buFontTx/>
              <a:buNone/>
            </a:pPr>
            <a:r>
              <a:rPr lang="en-US" sz="2400" b="1">
                <a:latin typeface="Courier New" pitchFamily="49" charset="0"/>
              </a:rPr>
              <a:t>	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private</a:t>
            </a:r>
            <a:r>
              <a:rPr lang="en-US" sz="2400" b="1">
                <a:latin typeface="Courier New" pitchFamily="49" charset="0"/>
              </a:rPr>
              <a:t> 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long</a:t>
            </a:r>
            <a:r>
              <a:rPr lang="en-US" sz="2400" b="1">
                <a:latin typeface="Courier New" pitchFamily="49" charset="0"/>
              </a:rPr>
              <a:t> initialTime;</a:t>
            </a:r>
          </a:p>
          <a:p>
            <a:pPr>
              <a:buFontTx/>
              <a:buNone/>
            </a:pPr>
            <a:r>
              <a:rPr lang="en-US" sz="2400" b="1">
                <a:latin typeface="Courier New" pitchFamily="49" charset="0"/>
              </a:rPr>
              <a:t>	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private</a:t>
            </a:r>
            <a:r>
              <a:rPr lang="en-US" sz="2400" b="1">
                <a:latin typeface="Courier New" pitchFamily="49" charset="0"/>
              </a:rPr>
              <a:t> 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long</a:t>
            </a:r>
            <a:r>
              <a:rPr lang="en-US" sz="2400" b="1">
                <a:latin typeface="Courier New" pitchFamily="49" charset="0"/>
              </a:rPr>
              <a:t> currentTime;</a:t>
            </a:r>
          </a:p>
          <a:p>
            <a:pPr>
              <a:buFontTx/>
              <a:buNone/>
            </a:pPr>
            <a:r>
              <a:rPr lang="en-US" sz="2400" b="1">
                <a:latin typeface="Courier New" pitchFamily="49" charset="0"/>
              </a:rPr>
              <a:t>	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2400" b="1">
                <a:latin typeface="Courier New" pitchFamily="49" charset="0"/>
              </a:rPr>
              <a:t> 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void</a:t>
            </a:r>
            <a:r>
              <a:rPr lang="en-US" sz="2400" b="1">
                <a:latin typeface="Courier New" pitchFamily="49" charset="0"/>
              </a:rPr>
              <a:t> reset()</a:t>
            </a:r>
          </a:p>
          <a:p>
            <a:pPr>
              <a:buFontTx/>
              <a:buNone/>
            </a:pPr>
            <a:r>
              <a:rPr lang="en-US" sz="2400" b="1">
                <a:latin typeface="Courier New" pitchFamily="49" charset="0"/>
              </a:rPr>
              <a:t>	{</a:t>
            </a:r>
          </a:p>
          <a:p>
            <a:pPr>
              <a:buFontTx/>
              <a:buNone/>
            </a:pPr>
            <a:r>
              <a:rPr lang="en-US" sz="2400" b="1">
                <a:latin typeface="Courier New" pitchFamily="49" charset="0"/>
              </a:rPr>
              <a:t>		isInReset = true;</a:t>
            </a:r>
          </a:p>
          <a:p>
            <a:pPr>
              <a:buFontTx/>
              <a:buNone/>
            </a:pPr>
            <a:r>
              <a:rPr lang="en-US" sz="2400" b="1">
                <a:latin typeface="Courier New" pitchFamily="49" charset="0"/>
              </a:rPr>
              <a:t>		initialTime = currentTime = 0;</a:t>
            </a:r>
          </a:p>
          <a:p>
            <a:pPr>
              <a:buFontTx/>
              <a:buNone/>
            </a:pPr>
            <a:r>
              <a:rPr lang="en-US" sz="2400" b="1">
                <a:latin typeface="Courier New" pitchFamily="49" charset="0"/>
              </a:rPr>
              <a:t>	}</a:t>
            </a:r>
          </a:p>
          <a:p>
            <a:pPr>
              <a:buFontTx/>
              <a:buNone/>
            </a:pPr>
            <a:r>
              <a:rPr lang="en-US" sz="2400" b="1">
                <a:latin typeface="Courier New" pitchFamily="49" charset="0"/>
              </a:rPr>
              <a:t>}</a:t>
            </a:r>
          </a:p>
        </p:txBody>
      </p:sp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Defining the </a:t>
            </a:r>
            <a:r>
              <a:rPr lang="en-US">
                <a:latin typeface="Courier New" pitchFamily="49" charset="0"/>
              </a:rPr>
              <a:t>reset()</a:t>
            </a:r>
            <a:r>
              <a:rPr lang="en-US"/>
              <a:t> method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3" name="AutoShape 3"/>
          <p:cNvSpPr>
            <a:spLocks noChangeArrowheads="1"/>
          </p:cNvSpPr>
          <p:nvPr/>
        </p:nvSpPr>
        <p:spPr bwMode="auto">
          <a:xfrm>
            <a:off x="609600" y="2362200"/>
            <a:ext cx="7924800" cy="3276600"/>
          </a:xfrm>
          <a:prstGeom prst="roundRect">
            <a:avLst>
              <a:gd name="adj" fmla="val 16667"/>
            </a:avLst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1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00600"/>
          </a:xfrm>
          <a:noFill/>
          <a:ln w="38100"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1400" b="1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1400" b="1">
                <a:latin typeface="Courier New" pitchFamily="49" charset="0"/>
              </a:rPr>
              <a:t> </a:t>
            </a:r>
            <a:r>
              <a:rPr lang="en-US" sz="1400" b="1">
                <a:solidFill>
                  <a:srgbClr val="333399"/>
                </a:solidFill>
                <a:latin typeface="Courier New" pitchFamily="49" charset="0"/>
              </a:rPr>
              <a:t>class</a:t>
            </a:r>
            <a:r>
              <a:rPr lang="en-US" sz="1400" b="1">
                <a:latin typeface="Courier New" pitchFamily="49" charset="0"/>
              </a:rPr>
              <a:t> StopWatch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b="1">
                <a:latin typeface="Courier New" pitchFamily="49" charset="0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b="1">
                <a:latin typeface="Courier New" pitchFamily="49" charset="0"/>
              </a:rPr>
              <a:t>	</a:t>
            </a:r>
            <a:r>
              <a:rPr lang="en-US" sz="1400" b="1">
                <a:solidFill>
                  <a:srgbClr val="333399"/>
                </a:solidFill>
                <a:latin typeface="Courier New" pitchFamily="49" charset="0"/>
              </a:rPr>
              <a:t>private boolean</a:t>
            </a:r>
            <a:r>
              <a:rPr lang="en-US" sz="1400" b="1">
                <a:latin typeface="Courier New" pitchFamily="49" charset="0"/>
              </a:rPr>
              <a:t> isInReset;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b="1">
                <a:latin typeface="Courier New" pitchFamily="49" charset="0"/>
              </a:rPr>
              <a:t>	</a:t>
            </a:r>
            <a:r>
              <a:rPr lang="en-US" sz="1400" b="1">
                <a:solidFill>
                  <a:srgbClr val="333399"/>
                </a:solidFill>
                <a:latin typeface="Courier New" pitchFamily="49" charset="0"/>
              </a:rPr>
              <a:t>private</a:t>
            </a:r>
            <a:r>
              <a:rPr lang="en-US" sz="1400" b="1">
                <a:latin typeface="Courier New" pitchFamily="49" charset="0"/>
              </a:rPr>
              <a:t> long initialTime;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b="1">
                <a:latin typeface="Courier New" pitchFamily="49" charset="0"/>
              </a:rPr>
              <a:t>	</a:t>
            </a:r>
            <a:r>
              <a:rPr lang="en-US" sz="1400" b="1">
                <a:solidFill>
                  <a:srgbClr val="333399"/>
                </a:solidFill>
                <a:latin typeface="Courier New" pitchFamily="49" charset="0"/>
              </a:rPr>
              <a:t>private</a:t>
            </a:r>
            <a:r>
              <a:rPr lang="en-US" sz="1400" b="1">
                <a:latin typeface="Courier New" pitchFamily="49" charset="0"/>
              </a:rPr>
              <a:t> long currentTime;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2400" b="1">
                <a:latin typeface="Courier New" pitchFamily="49" charset="0"/>
              </a:rPr>
              <a:t> 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void</a:t>
            </a:r>
            <a:r>
              <a:rPr lang="en-US" sz="2400" b="1">
                <a:latin typeface="Courier New" pitchFamily="49" charset="0"/>
              </a:rPr>
              <a:t> startStop()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	currentTime = </a:t>
            </a:r>
            <a:r>
              <a:rPr lang="en-US" sz="1400" b="1">
                <a:latin typeface="Courier New" pitchFamily="49" charset="0"/>
              </a:rPr>
              <a:t>Calendar.getInstance().getTimeInMillis();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	if (isInReset){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		initialTime = currentTime;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		isInReset=false;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b="1">
                <a:latin typeface="Courier New" pitchFamily="49" charset="0"/>
              </a:rPr>
              <a:t>}</a:t>
            </a:r>
          </a:p>
        </p:txBody>
      </p:sp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Defining the </a:t>
            </a:r>
            <a:r>
              <a:rPr lang="en-US">
                <a:latin typeface="Courier New" pitchFamily="49" charset="0"/>
              </a:rPr>
              <a:t>startStop()</a:t>
            </a:r>
            <a:r>
              <a:rPr lang="en-US"/>
              <a:t> method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AutoShape 2"/>
          <p:cNvSpPr>
            <a:spLocks noChangeArrowheads="1"/>
          </p:cNvSpPr>
          <p:nvPr/>
        </p:nvSpPr>
        <p:spPr bwMode="auto">
          <a:xfrm>
            <a:off x="609600" y="2362200"/>
            <a:ext cx="7924800" cy="1676400"/>
          </a:xfrm>
          <a:prstGeom prst="roundRect">
            <a:avLst>
              <a:gd name="adj" fmla="val 16667"/>
            </a:avLst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00600"/>
          </a:xfrm>
          <a:noFill/>
          <a:ln w="38100"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1400" b="1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1400" b="1">
                <a:latin typeface="Courier New" pitchFamily="49" charset="0"/>
              </a:rPr>
              <a:t> </a:t>
            </a:r>
            <a:r>
              <a:rPr lang="en-US" sz="1400" b="1">
                <a:solidFill>
                  <a:srgbClr val="333399"/>
                </a:solidFill>
                <a:latin typeface="Courier New" pitchFamily="49" charset="0"/>
              </a:rPr>
              <a:t>class</a:t>
            </a:r>
            <a:r>
              <a:rPr lang="en-US" sz="1400" b="1">
                <a:latin typeface="Courier New" pitchFamily="49" charset="0"/>
              </a:rPr>
              <a:t> StopWatch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b="1">
                <a:latin typeface="Courier New" pitchFamily="49" charset="0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b="1">
                <a:latin typeface="Courier New" pitchFamily="49" charset="0"/>
              </a:rPr>
              <a:t>	</a:t>
            </a:r>
            <a:r>
              <a:rPr lang="en-US" sz="1400" b="1">
                <a:solidFill>
                  <a:srgbClr val="333399"/>
                </a:solidFill>
                <a:latin typeface="Courier New" pitchFamily="49" charset="0"/>
              </a:rPr>
              <a:t>private boolean</a:t>
            </a:r>
            <a:r>
              <a:rPr lang="en-US" sz="1400" b="1">
                <a:latin typeface="Courier New" pitchFamily="49" charset="0"/>
              </a:rPr>
              <a:t> isInReset;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b="1">
                <a:latin typeface="Courier New" pitchFamily="49" charset="0"/>
              </a:rPr>
              <a:t>	</a:t>
            </a:r>
            <a:r>
              <a:rPr lang="en-US" sz="1400" b="1">
                <a:solidFill>
                  <a:srgbClr val="333399"/>
                </a:solidFill>
                <a:latin typeface="Courier New" pitchFamily="49" charset="0"/>
              </a:rPr>
              <a:t>private</a:t>
            </a:r>
            <a:r>
              <a:rPr lang="en-US" sz="1400" b="1">
                <a:latin typeface="Courier New" pitchFamily="49" charset="0"/>
              </a:rPr>
              <a:t> long initialTime;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b="1">
                <a:latin typeface="Courier New" pitchFamily="49" charset="0"/>
              </a:rPr>
              <a:t>	</a:t>
            </a:r>
            <a:r>
              <a:rPr lang="en-US" sz="1400" b="1">
                <a:solidFill>
                  <a:srgbClr val="333399"/>
                </a:solidFill>
                <a:latin typeface="Courier New" pitchFamily="49" charset="0"/>
              </a:rPr>
              <a:t>private</a:t>
            </a:r>
            <a:r>
              <a:rPr lang="en-US" sz="1400" b="1">
                <a:latin typeface="Courier New" pitchFamily="49" charset="0"/>
              </a:rPr>
              <a:t> long currentTime;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2400" b="1">
                <a:latin typeface="Courier New" pitchFamily="49" charset="0"/>
              </a:rPr>
              <a:t> 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long</a:t>
            </a:r>
            <a:r>
              <a:rPr lang="en-US" sz="2400" b="1">
                <a:latin typeface="Courier New" pitchFamily="49" charset="0"/>
              </a:rPr>
              <a:t> elapsedTime()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	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return</a:t>
            </a:r>
            <a:r>
              <a:rPr lang="en-US" sz="2400" b="1">
                <a:latin typeface="Courier New" pitchFamily="49" charset="0"/>
              </a:rPr>
              <a:t> (currentTime - initialTime);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400" b="1">
                <a:latin typeface="Courier New" pitchFamily="49" charset="0"/>
              </a:rPr>
              <a:t>}</a:t>
            </a:r>
          </a:p>
        </p:txBody>
      </p:sp>
      <p:sp>
        <p:nvSpPr>
          <p:cNvPr id="2631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Defining the </a:t>
            </a:r>
            <a:r>
              <a:rPr lang="en-US">
                <a:latin typeface="Courier New" pitchFamily="49" charset="0"/>
              </a:rPr>
              <a:t>elapsedTime()</a:t>
            </a:r>
            <a:r>
              <a:rPr lang="en-US"/>
              <a:t> method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00600"/>
          </a:xfrm>
          <a:noFill/>
          <a:ln w="38100"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void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</a:rPr>
              <a:t>toString</a:t>
            </a:r>
            <a:r>
              <a:rPr lang="en-US" sz="2400" b="1" dirty="0">
                <a:latin typeface="Courier New" pitchFamily="49" charset="0"/>
              </a:rPr>
              <a:t>()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long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</a:rPr>
              <a:t>elapsedSecs</a:t>
            </a:r>
            <a:r>
              <a:rPr lang="en-US" sz="2400" b="1" dirty="0">
                <a:latin typeface="Courier New" pitchFamily="49" charset="0"/>
              </a:rPr>
              <a:t> = </a:t>
            </a:r>
            <a:r>
              <a:rPr lang="en-US" sz="2400" b="1" dirty="0" err="1">
                <a:latin typeface="Courier New" pitchFamily="49" charset="0"/>
              </a:rPr>
              <a:t>elapsedTime</a:t>
            </a:r>
            <a:r>
              <a:rPr lang="en-US" sz="2400" b="1" dirty="0">
                <a:latin typeface="Courier New" pitchFamily="49" charset="0"/>
              </a:rPr>
              <a:t>()/1000;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long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</a:rPr>
              <a:t>elapsedHours</a:t>
            </a:r>
            <a:r>
              <a:rPr lang="en-US" sz="2400" b="1" dirty="0">
                <a:latin typeface="Courier New" pitchFamily="49" charset="0"/>
              </a:rPr>
              <a:t> = </a:t>
            </a:r>
            <a:r>
              <a:rPr lang="en-US" sz="2400" b="1" dirty="0" err="1">
                <a:latin typeface="Courier New" pitchFamily="49" charset="0"/>
              </a:rPr>
              <a:t>elapsedSecs</a:t>
            </a:r>
            <a:r>
              <a:rPr lang="en-US" sz="2400" b="1" dirty="0">
                <a:latin typeface="Courier New" pitchFamily="49" charset="0"/>
              </a:rPr>
              <a:t>/3600;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</a:rPr>
              <a:t>elapsedSecs</a:t>
            </a:r>
            <a:r>
              <a:rPr lang="en-US" sz="2400" b="1" dirty="0">
                <a:latin typeface="Courier New" pitchFamily="49" charset="0"/>
              </a:rPr>
              <a:t> -= (</a:t>
            </a:r>
            <a:r>
              <a:rPr lang="en-US" sz="2400" b="1" dirty="0" err="1">
                <a:latin typeface="Courier New" pitchFamily="49" charset="0"/>
              </a:rPr>
              <a:t>elapsedHours</a:t>
            </a:r>
            <a:r>
              <a:rPr lang="en-US" sz="2400" b="1" dirty="0">
                <a:latin typeface="Courier New" pitchFamily="49" charset="0"/>
              </a:rPr>
              <a:t>*3600);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333399"/>
                </a:solidFill>
                <a:latin typeface="Courier New" pitchFamily="49" charset="0"/>
              </a:rPr>
              <a:t>long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</a:rPr>
              <a:t>elapsedMins</a:t>
            </a:r>
            <a:r>
              <a:rPr lang="en-US" sz="2400" b="1" dirty="0">
                <a:latin typeface="Courier New" pitchFamily="49" charset="0"/>
              </a:rPr>
              <a:t> = </a:t>
            </a:r>
            <a:r>
              <a:rPr lang="en-US" sz="2400" b="1" dirty="0" err="1">
                <a:latin typeface="Courier New" pitchFamily="49" charset="0"/>
              </a:rPr>
              <a:t>elapsedSecs</a:t>
            </a:r>
            <a:r>
              <a:rPr lang="en-US" sz="2400" b="1" dirty="0">
                <a:latin typeface="Courier New" pitchFamily="49" charset="0"/>
              </a:rPr>
              <a:t>/60;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</a:rPr>
              <a:t>elapsedSecs</a:t>
            </a:r>
            <a:r>
              <a:rPr lang="en-US" sz="2400" b="1" dirty="0">
                <a:latin typeface="Courier New" pitchFamily="49" charset="0"/>
              </a:rPr>
              <a:t> -= (</a:t>
            </a:r>
            <a:r>
              <a:rPr lang="en-US" sz="2400" b="1" dirty="0" err="1">
                <a:latin typeface="Courier New" pitchFamily="49" charset="0"/>
              </a:rPr>
              <a:t>elapsedMins</a:t>
            </a:r>
            <a:r>
              <a:rPr lang="en-US" sz="2400" b="1" dirty="0">
                <a:latin typeface="Courier New" pitchFamily="49" charset="0"/>
              </a:rPr>
              <a:t>*60);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	return "Elapsed Time: " + 	</a:t>
            </a:r>
            <a:r>
              <a:rPr lang="en-US" sz="2400" b="1" dirty="0" err="1">
                <a:latin typeface="Courier New" pitchFamily="49" charset="0"/>
              </a:rPr>
              <a:t>elapsedHours</a:t>
            </a:r>
            <a:r>
              <a:rPr lang="en-US" sz="2400" b="1" dirty="0">
                <a:latin typeface="Courier New" pitchFamily="49" charset="0"/>
              </a:rPr>
              <a:t> + "h " + </a:t>
            </a:r>
            <a:r>
              <a:rPr lang="en-US" sz="2400" b="1" dirty="0" err="1">
                <a:latin typeface="Courier New" pitchFamily="49" charset="0"/>
              </a:rPr>
              <a:t>elapsedMins</a:t>
            </a:r>
            <a:r>
              <a:rPr lang="en-US" sz="2400" b="1" dirty="0">
                <a:latin typeface="Courier New" pitchFamily="49" charset="0"/>
              </a:rPr>
              <a:t> +  	"m " + </a:t>
            </a:r>
            <a:r>
              <a:rPr lang="en-US" sz="2400" b="1" dirty="0" err="1">
                <a:latin typeface="Courier New" pitchFamily="49" charset="0"/>
              </a:rPr>
              <a:t>elapsedSecs</a:t>
            </a:r>
            <a:r>
              <a:rPr lang="en-US" sz="2400" b="1" dirty="0">
                <a:latin typeface="Courier New" pitchFamily="49" charset="0"/>
              </a:rPr>
              <a:t> + "s";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}</a:t>
            </a:r>
            <a:endParaRPr lang="en-US" sz="1400" b="1" dirty="0">
              <a:latin typeface="Courier New" pitchFamily="49" charset="0"/>
            </a:endParaRPr>
          </a:p>
        </p:txBody>
      </p:sp>
      <p:sp>
        <p:nvSpPr>
          <p:cNvPr id="2652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Defining the </a:t>
            </a:r>
            <a:r>
              <a:rPr lang="en-US">
                <a:latin typeface="Courier New" pitchFamily="49" charset="0"/>
              </a:rPr>
              <a:t>output()</a:t>
            </a:r>
            <a:r>
              <a:rPr lang="en-US"/>
              <a:t> method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Constructors!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happens when the following statement is executed.</a:t>
            </a:r>
          </a:p>
          <a:p>
            <a:pPr lvl="3"/>
            <a:endParaRPr lang="en-US"/>
          </a:p>
          <a:p>
            <a:pPr>
              <a:buFontTx/>
              <a:buNone/>
            </a:pPr>
            <a:r>
              <a:rPr lang="en-US" sz="2600" b="1">
                <a:solidFill>
                  <a:srgbClr val="333399"/>
                </a:solidFill>
                <a:latin typeface="Courier New" pitchFamily="49" charset="0"/>
              </a:rPr>
              <a:t> StopWatch joeStopWatch=new StopWatch();</a:t>
            </a:r>
          </a:p>
          <a:p>
            <a:pPr lvl="2"/>
            <a:endParaRPr lang="en-US" sz="2100" b="1">
              <a:solidFill>
                <a:srgbClr val="333399"/>
              </a:solidFill>
            </a:endParaRPr>
          </a:p>
          <a:p>
            <a:pPr lvl="1"/>
            <a:r>
              <a:rPr lang="en-US"/>
              <a:t>When you create an object of a class, often you want certain initializing actions performed such as giving values to the instance variables.</a:t>
            </a:r>
          </a:p>
          <a:p>
            <a:pPr lvl="1"/>
            <a:r>
              <a:rPr lang="en-US"/>
              <a:t>A constructor is a special method that performs initializations.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Constructors Cont’d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objects are created using</a:t>
            </a:r>
          </a:p>
          <a:p>
            <a:pPr>
              <a:buFontTx/>
              <a:buNone/>
            </a:pP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Class_Name Object_Name = </a:t>
            </a:r>
          </a:p>
          <a:p>
            <a:pPr>
              <a:buFontTx/>
              <a:buNone/>
            </a:pP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			new Class_Name (Parameter(s));</a:t>
            </a:r>
          </a:p>
          <a:p>
            <a:r>
              <a:rPr lang="en-US" b="1"/>
              <a:t>Example</a:t>
            </a:r>
          </a:p>
          <a:p>
            <a:pPr>
              <a:buFontTx/>
              <a:buNone/>
            </a:pPr>
            <a:r>
              <a:rPr lang="en-US" sz="2600" b="1">
                <a:solidFill>
                  <a:srgbClr val="333399"/>
                </a:solidFill>
                <a:latin typeface="Courier New" pitchFamily="49" charset="0"/>
              </a:rPr>
              <a:t>StopWatch joeStopWatch=new StopWatch();</a:t>
            </a:r>
            <a:endParaRPr lang="en-US" b="1">
              <a:solidFill>
                <a:srgbClr val="333399"/>
              </a:solidFill>
              <a:latin typeface="Courier New" pitchFamily="49" charset="0"/>
            </a:endParaRPr>
          </a:p>
          <a:p>
            <a:r>
              <a:rPr lang="en-US"/>
              <a:t>A constructor is called automatically when a new object is created.</a:t>
            </a:r>
          </a:p>
          <a:p>
            <a:r>
              <a:rPr lang="en-US"/>
              <a:t>It performs any actions written into its definition including initializing the values of (usually all) instance variables.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Constructors Cont’d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Each constructor has the </a:t>
            </a:r>
            <a:r>
              <a:rPr lang="en-US" i="1"/>
              <a:t>same name</a:t>
            </a:r>
            <a:r>
              <a:rPr lang="en-US"/>
              <a:t> as its class.</a:t>
            </a:r>
          </a:p>
          <a:p>
            <a:pPr lvl="2"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A constructor </a:t>
            </a:r>
            <a:r>
              <a:rPr lang="en-US" i="1"/>
              <a:t>does not</a:t>
            </a:r>
            <a:r>
              <a:rPr lang="en-US"/>
              <a:t> have a </a:t>
            </a:r>
            <a:r>
              <a:rPr lang="en-US" i="1"/>
              <a:t>return type</a:t>
            </a:r>
            <a:r>
              <a:rPr lang="en-US"/>
              <a:t>, not even void.</a:t>
            </a:r>
          </a:p>
          <a:p>
            <a:pPr lvl="2"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Typically, at least one constructor, the default constructor, has no parameters.</a:t>
            </a:r>
          </a:p>
          <a:p>
            <a:pPr lvl="2"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When a class definition does not have a constructor definition, Java creates a default constructor automatically.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AutoShape 2"/>
          <p:cNvSpPr>
            <a:spLocks noChangeArrowheads="1"/>
          </p:cNvSpPr>
          <p:nvPr/>
        </p:nvSpPr>
        <p:spPr bwMode="auto">
          <a:xfrm>
            <a:off x="609600" y="3135313"/>
            <a:ext cx="7924800" cy="1676400"/>
          </a:xfrm>
          <a:prstGeom prst="roundRect">
            <a:avLst>
              <a:gd name="adj" fmla="val 16667"/>
            </a:avLst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00600"/>
          </a:xfrm>
          <a:noFill/>
          <a:ln w="38100"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2400" b="1">
                <a:latin typeface="Courier New" pitchFamily="49" charset="0"/>
              </a:rPr>
              <a:t> 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class</a:t>
            </a:r>
            <a:r>
              <a:rPr lang="en-US" sz="2400" b="1">
                <a:latin typeface="Courier New" pitchFamily="49" charset="0"/>
              </a:rPr>
              <a:t> StopWatch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private boolean</a:t>
            </a:r>
            <a:r>
              <a:rPr lang="en-US" sz="2400" b="1">
                <a:latin typeface="Courier New" pitchFamily="49" charset="0"/>
              </a:rPr>
              <a:t> isInReset;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private</a:t>
            </a:r>
            <a:r>
              <a:rPr lang="en-US" sz="2400" b="1">
                <a:latin typeface="Courier New" pitchFamily="49" charset="0"/>
              </a:rPr>
              <a:t> long initialTime;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private</a:t>
            </a:r>
            <a:r>
              <a:rPr lang="en-US" sz="2400" b="1">
                <a:latin typeface="Courier New" pitchFamily="49" charset="0"/>
              </a:rPr>
              <a:t> long currentTime;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</a:t>
            </a:r>
            <a:r>
              <a:rPr lang="en-US" sz="2400" b="1">
                <a:solidFill>
                  <a:srgbClr val="333399"/>
                </a:solidFill>
                <a:latin typeface="Courier New" pitchFamily="49" charset="0"/>
              </a:rPr>
              <a:t>public</a:t>
            </a:r>
            <a:r>
              <a:rPr lang="en-US" sz="2400" b="1">
                <a:latin typeface="Courier New" pitchFamily="49" charset="0"/>
              </a:rPr>
              <a:t> StopWatch()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	reset();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	. . 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}</a:t>
            </a:r>
          </a:p>
        </p:txBody>
      </p:sp>
      <p:sp>
        <p:nvSpPr>
          <p:cNvPr id="27341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Constructor for </a:t>
            </a:r>
            <a:r>
              <a:rPr lang="en-US">
                <a:latin typeface="Courier New" pitchFamily="49" charset="0"/>
              </a:rPr>
              <a:t>StopWatch()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lecture, a student should be able to:</a:t>
            </a:r>
          </a:p>
          <a:p>
            <a:pPr lvl="1"/>
            <a:r>
              <a:rPr lang="en-US" dirty="0"/>
              <a:t>Define a java class</a:t>
            </a:r>
          </a:p>
          <a:p>
            <a:pPr lvl="1"/>
            <a:r>
              <a:rPr lang="en-US" dirty="0"/>
              <a:t>Create an instance of a class with a predetermined initial state.</a:t>
            </a:r>
          </a:p>
          <a:p>
            <a:pPr lvl="1"/>
            <a:r>
              <a:rPr lang="en-US" dirty="0"/>
              <a:t>Implement accessor and </a:t>
            </a:r>
            <a:r>
              <a:rPr lang="en-US" dirty="0" err="1"/>
              <a:t>mutator</a:t>
            </a:r>
            <a:r>
              <a:rPr lang="en-US" dirty="0"/>
              <a:t> methods</a:t>
            </a:r>
          </a:p>
          <a:p>
            <a:pPr lvl="1"/>
            <a:r>
              <a:rPr lang="en-US" dirty="0"/>
              <a:t>Implement a constructor</a:t>
            </a:r>
          </a:p>
          <a:p>
            <a:pPr lvl="1"/>
            <a:r>
              <a:rPr lang="en-US" dirty="0"/>
              <a:t>Design an FSM and properly implement it using a class.</a:t>
            </a:r>
          </a:p>
        </p:txBody>
      </p:sp>
    </p:spTree>
    <p:extLst>
      <p:ext uri="{BB962C8B-B14F-4D97-AF65-F5344CB8AC3E}">
        <p14:creationId xmlns:p14="http://schemas.microsoft.com/office/powerpoint/2010/main" val="327358342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">
  <a:themeElements>
    <a:clrScheme name="lectur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ectur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ectur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4989</TotalTime>
  <Words>1670</Words>
  <Application>Microsoft Macintosh PowerPoint</Application>
  <PresentationFormat>On-screen Show (4:3)</PresentationFormat>
  <Paragraphs>328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Courier New</vt:lpstr>
      <vt:lpstr>Times New Roman</vt:lpstr>
      <vt:lpstr>lecture</vt:lpstr>
      <vt:lpstr>Putting It All Together FSMs and Classes</vt:lpstr>
      <vt:lpstr>Learning Outcomes</vt:lpstr>
      <vt:lpstr>Designing StopWatch</vt:lpstr>
      <vt:lpstr>Designing StopWatch</vt:lpstr>
      <vt:lpstr>Designing StopWatch</vt:lpstr>
      <vt:lpstr>Designing StopWatch</vt:lpstr>
      <vt:lpstr>Class as an Outline / Blueprint</vt:lpstr>
      <vt:lpstr>Objects of Type StopWatch</vt:lpstr>
      <vt:lpstr>Class Files and Separate Compilation</vt:lpstr>
      <vt:lpstr>Defining the StopWatch Class</vt:lpstr>
      <vt:lpstr>Instantiating a StopWatch</vt:lpstr>
      <vt:lpstr>Testing the StopWatch</vt:lpstr>
      <vt:lpstr>Methods That Return a Value</vt:lpstr>
      <vt:lpstr>Defining the StopWatch Class …</vt:lpstr>
      <vt:lpstr>Mutator and Accessor Methods</vt:lpstr>
      <vt:lpstr>Testing the StopWatch</vt:lpstr>
      <vt:lpstr>Designing StopWatch</vt:lpstr>
      <vt:lpstr>Designing StopWatch</vt:lpstr>
      <vt:lpstr>Defining the reset() method</vt:lpstr>
      <vt:lpstr>Defining the startStop() method</vt:lpstr>
      <vt:lpstr>Defining the elapsedTime() method</vt:lpstr>
      <vt:lpstr>Defining the output() method</vt:lpstr>
      <vt:lpstr>Constructors!</vt:lpstr>
      <vt:lpstr>Constructors Cont’d</vt:lpstr>
      <vt:lpstr>Constructors Cont’d</vt:lpstr>
      <vt:lpstr>Constructor for StopWatch()</vt:lpstr>
      <vt:lpstr>Summary</vt:lpstr>
    </vt:vector>
  </TitlesOfParts>
  <Company>Computer and Information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Elements of Computer Programming</dc:subject>
  <dc:creator>Marwan Rasamny</dc:creator>
  <cp:lastModifiedBy>Marwan Rasamny</cp:lastModifiedBy>
  <cp:revision>80</cp:revision>
  <cp:lastPrinted>1601-01-01T00:00:00Z</cp:lastPrinted>
  <dcterms:created xsi:type="dcterms:W3CDTF">2007-01-26T00:04:48Z</dcterms:created>
  <dcterms:modified xsi:type="dcterms:W3CDTF">2025-11-12T12:37:09Z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